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4"/>
  </p:notesMasterIdLst>
  <p:sldIdLst>
    <p:sldId id="866" r:id="rId2"/>
    <p:sldId id="816" r:id="rId3"/>
    <p:sldId id="822" r:id="rId4"/>
    <p:sldId id="817" r:id="rId5"/>
    <p:sldId id="826" r:id="rId6"/>
    <p:sldId id="819" r:id="rId7"/>
    <p:sldId id="620" r:id="rId8"/>
    <p:sldId id="829" r:id="rId9"/>
    <p:sldId id="830" r:id="rId10"/>
    <p:sldId id="805" r:id="rId11"/>
    <p:sldId id="806" r:id="rId12"/>
    <p:sldId id="831" r:id="rId13"/>
    <p:sldId id="809" r:id="rId14"/>
    <p:sldId id="811" r:id="rId15"/>
    <p:sldId id="833" r:id="rId16"/>
    <p:sldId id="838" r:id="rId17"/>
    <p:sldId id="856" r:id="rId18"/>
    <p:sldId id="852" r:id="rId19"/>
    <p:sldId id="853" r:id="rId20"/>
    <p:sldId id="857" r:id="rId21"/>
    <p:sldId id="855" r:id="rId22"/>
    <p:sldId id="832" r:id="rId23"/>
    <p:sldId id="834" r:id="rId24"/>
    <p:sldId id="812" r:id="rId25"/>
    <p:sldId id="835" r:id="rId26"/>
    <p:sldId id="848" r:id="rId27"/>
    <p:sldId id="843" r:id="rId28"/>
    <p:sldId id="854" r:id="rId29"/>
    <p:sldId id="807" r:id="rId30"/>
    <p:sldId id="840" r:id="rId31"/>
    <p:sldId id="813" r:id="rId32"/>
    <p:sldId id="814" r:id="rId33"/>
    <p:sldId id="847" r:id="rId34"/>
    <p:sldId id="898" r:id="rId35"/>
    <p:sldId id="868" r:id="rId36"/>
    <p:sldId id="870" r:id="rId37"/>
    <p:sldId id="871" r:id="rId38"/>
    <p:sldId id="869" r:id="rId39"/>
    <p:sldId id="864" r:id="rId40"/>
    <p:sldId id="865" r:id="rId41"/>
    <p:sldId id="872" r:id="rId42"/>
    <p:sldId id="885" r:id="rId43"/>
    <p:sldId id="897" r:id="rId44"/>
    <p:sldId id="849" r:id="rId45"/>
    <p:sldId id="875" r:id="rId46"/>
    <p:sldId id="861" r:id="rId47"/>
    <p:sldId id="905" r:id="rId48"/>
    <p:sldId id="860" r:id="rId49"/>
    <p:sldId id="877" r:id="rId50"/>
    <p:sldId id="903" r:id="rId51"/>
    <p:sldId id="904" r:id="rId52"/>
    <p:sldId id="900" r:id="rId5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2616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8304"/>
    </p:cViewPr>
  </p:sorterViewPr>
  <p:notesViewPr>
    <p:cSldViewPr>
      <p:cViewPr varScale="1">
        <p:scale>
          <a:sx n="96" d="100"/>
          <a:sy n="96" d="100"/>
        </p:scale>
        <p:origin x="3808" y="17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3A498C79-924F-A54E-3283-AA76A0AEE0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2C175ABB-C21C-2D24-1DEE-BFD050D608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E839A328-D5D2-4940-6D1E-334BC3139A6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68555039-41A5-6B99-EAE6-3D8FB843BD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57BF18FE-0B38-4C1C-3FDC-42FFE9C23F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5" name="Rectangle 7">
            <a:extLst>
              <a:ext uri="{FF2B5EF4-FFF2-40B4-BE49-F238E27FC236}">
                <a16:creationId xmlns:a16="http://schemas.microsoft.com/office/drawing/2014/main" id="{663EBD3F-AC35-280A-D01A-DB6E8E40A8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59CE0CC-8B05-7248-9FDD-172E2066DC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9CE0CC-8B05-7248-9FDD-172E2066DCAB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5489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9CE0CC-8B05-7248-9FDD-172E2066DCAB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359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E2A889-A2AA-26CC-C317-50151ADE7C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EC3E8F-4353-36B5-D674-43AE14101C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B702A3-6D39-2E93-07CA-86F33D3588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4BFF1-9FDA-9A47-9DDB-136A6E0052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93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F0C3F9-B028-1D09-89C2-F0075616F5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3337F9-FB1C-95F8-E96C-389DDF5E1B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90A395-2B5E-9D94-A986-DAD5A7F12B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B138A-A86D-F046-A683-A6A2E0BC87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066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30BC17-6A9E-CBC8-70FF-80FB98A153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84229D-16E4-7BB9-ADDB-B9BDFA32B0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653282-8883-11A4-E3F0-3804B6934E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91BBF-0D86-FF4A-BCD6-60F8E8CF0E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219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5DFAD6-CA11-CFE4-6362-8AD74788AF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ADF898-36C0-1C9F-E086-C435392EA3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47198E-6AF8-23D5-0123-BFDB32303A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11A9A-650C-2546-B943-811A0D448C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44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9D36B55-9875-C4BA-7A99-AB68E42227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17C595B-CF99-73C6-CAF8-6E62D087CC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F036EC8-0163-6720-38BC-3886E32176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7DD5FB-F1A0-F743-B560-95329491A5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3377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0E2FF53-5147-FD8E-2321-77D46B31EA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1573570-863C-931A-45D2-8664BCCEA0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B736FB6-5DBC-0AED-4485-E043748BA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6E511-E219-404D-99CB-BD5B1CE819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1895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A2F38A9-540B-54E9-2753-5BC2CC0CF1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C370247-D192-E33A-27AF-0158F7729B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08CC0F5-8E05-CFE7-DB85-5479C9F2CF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6C93A-FCAA-064D-9F02-2A2E81A8DA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8315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EAB213-7CBA-9D92-7A87-DB4A8A2D4A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B12319-95BF-7D47-500A-BA31A778E0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73567-B280-01ED-3929-60DC86C5BB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BFB99-653D-3A4D-B1AB-34E068C56E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5481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99636D-CADF-43E8-A66D-10CF1C405F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C83545-D433-1DB2-D05E-5B9FC12B44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F27AE1-C2F9-B75D-59DC-CA9C26B689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766AC9-B4E4-8947-9C66-D60FA2AE65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44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7EC4B6-C136-71C7-FEFC-5ECFFE3675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236C73-CBAB-9550-3917-18DD5B441E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C3140C-FB4B-CB32-05FF-5ED5A27758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871D1D-3DE1-7644-80FF-4E3D2FC209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398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0C4014-B2D7-2A46-2916-3888F8D2B7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89B788-9AE8-7972-2B48-919D5F010A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BB8A23-E634-543D-DB78-9615178929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8316D-9423-7C48-8ACD-9E25C4353B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259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C81E21F-8710-E1FB-D49B-34813E333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E5934A3-3A93-E4CF-5BAF-AC35DE861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53988" name="Rectangle 4">
            <a:extLst>
              <a:ext uri="{FF2B5EF4-FFF2-40B4-BE49-F238E27FC236}">
                <a16:creationId xmlns:a16="http://schemas.microsoft.com/office/drawing/2014/main" id="{83F48483-DD64-385A-69E7-2E644B90AC4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989" name="Rectangle 5">
            <a:extLst>
              <a:ext uri="{FF2B5EF4-FFF2-40B4-BE49-F238E27FC236}">
                <a16:creationId xmlns:a16="http://schemas.microsoft.com/office/drawing/2014/main" id="{E94FF764-5300-DB9B-F1B3-5FA8693CB0F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990" name="Rectangle 6">
            <a:extLst>
              <a:ext uri="{FF2B5EF4-FFF2-40B4-BE49-F238E27FC236}">
                <a16:creationId xmlns:a16="http://schemas.microsoft.com/office/drawing/2014/main" id="{EA9E4522-1B57-FC76-ECDE-227AB14CEBA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E1B561D-E86A-B946-BC6D-7A394305C3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tsanTraining/training_jan_2026.git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B9C7F0D5-6A4A-2E93-6FE9-82B9745314D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4338" name="Subtitle 2">
            <a:extLst>
              <a:ext uri="{FF2B5EF4-FFF2-40B4-BE49-F238E27FC236}">
                <a16:creationId xmlns:a16="http://schemas.microsoft.com/office/drawing/2014/main" id="{ECE9B3AA-43C9-24B9-D372-E360CB15CA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7AA227FC-8CB5-628A-6BF4-0F5BEFA8A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Devops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4EA79029-E1BC-8771-556F-18ACBE76DE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'DevOps' is a combination of two words 'development' and 'operations.‘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A set of practices designed to overcome the gap between development, QA and Operations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Done by effective communication and collaboration, incorporating continuous integration process with automated deployment.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It helps to increase an organization’s speed to deliver applications and services. 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A7E26303-E273-5F98-F0E6-FFF22A2813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Need for DevOps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D15C3B35-71A2-1040-7773-444277AE95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The development and operation team worked in complete isolation.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Testing and Deployment were isolated activities done after design-build.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Hence they consumed more time than actual build cycles.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Manual code deployment leads to human errors in production</a:t>
            </a:r>
            <a:endParaRPr lang="en-US" altLang="en-US"/>
          </a:p>
          <a:p>
            <a:pPr lvl="1">
              <a:lnSpc>
                <a:spcPct val="150000"/>
              </a:lnSpc>
            </a:pPr>
            <a:r>
              <a:rPr lang="en-US" altLang="en-US" sz="2000"/>
              <a:t>Coding &amp; operation teams have their separate timelines and are not in synch causing further delays.</a:t>
            </a:r>
          </a:p>
          <a:p>
            <a:pPr>
              <a:lnSpc>
                <a:spcPct val="15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CBC324E0-1E49-5ADC-AB01-A59CC62478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Life Cycle</a:t>
            </a:r>
          </a:p>
        </p:txBody>
      </p:sp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52483B6A-5DFE-99CB-A6A7-C576B2E3E5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b="1" i="1"/>
              <a:t>Development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Software Development takes place constantly.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entire development process is separated into small development cycles.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Helps to speed up software development and delivery process. </a:t>
            </a:r>
          </a:p>
          <a:p>
            <a:pPr>
              <a:lnSpc>
                <a:spcPct val="150000"/>
              </a:lnSpc>
            </a:pPr>
            <a:endParaRPr lang="en-US" altLang="en-US" sz="2000" b="1" i="1"/>
          </a:p>
          <a:p>
            <a:pPr>
              <a:lnSpc>
                <a:spcPct val="150000"/>
              </a:lnSpc>
            </a:pPr>
            <a:r>
              <a:rPr lang="en-US" altLang="en-US" sz="2000" b="1" i="1"/>
              <a:t>Testing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QA team use tools like Selenium to identify and fix bugs in the new piece of code.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0CB5B1FB-97A3-15E7-A802-0B140081A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Life Cycle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0AB52295-16BA-0811-13F3-03C9AA0D46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i="1"/>
              <a:t>Integration </a:t>
            </a:r>
          </a:p>
          <a:p>
            <a:pPr lvl="1"/>
            <a:r>
              <a:rPr lang="en-US" altLang="en-US" sz="2000"/>
              <a:t>New functionality is integrated with the prevailing code, </a:t>
            </a:r>
          </a:p>
          <a:p>
            <a:pPr lvl="1"/>
            <a:r>
              <a:rPr lang="en-US" altLang="en-US" sz="2000"/>
              <a:t>Testing takes place. </a:t>
            </a:r>
          </a:p>
          <a:p>
            <a:pPr lvl="1"/>
            <a:r>
              <a:rPr lang="en-US" altLang="en-US" sz="2000"/>
              <a:t>Continuous development with integration and testing. </a:t>
            </a:r>
          </a:p>
          <a:p>
            <a:endParaRPr lang="en-US" altLang="en-US" sz="2000" b="1" i="1"/>
          </a:p>
          <a:p>
            <a:r>
              <a:rPr lang="en-US" altLang="en-US" sz="2000" b="1" i="1"/>
              <a:t>Deployment </a:t>
            </a:r>
          </a:p>
          <a:p>
            <a:pPr lvl="1"/>
            <a:r>
              <a:rPr lang="en-US" altLang="en-US" sz="2000"/>
              <a:t>Deployment process takes place continuously. </a:t>
            </a:r>
          </a:p>
          <a:p>
            <a:pPr lvl="1"/>
            <a:r>
              <a:rPr lang="en-US" altLang="en-US" sz="2000"/>
              <a:t>It is performed in such a manner that any changes made any time in the code, should not affect the functioning of high traffic application. </a:t>
            </a:r>
          </a:p>
          <a:p>
            <a:endParaRPr lang="en-US" altLang="en-US" sz="2000" b="1" i="1"/>
          </a:p>
          <a:p>
            <a:r>
              <a:rPr lang="en-US" altLang="en-US" sz="2000" b="1" i="1"/>
              <a:t>Monitoring </a:t>
            </a:r>
          </a:p>
          <a:p>
            <a:pPr lvl="1"/>
            <a:r>
              <a:rPr lang="en-US" altLang="en-US" sz="2000"/>
              <a:t>Operation team will take care of the inappropriate system behavior or bugs which are found in production. 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D7999C09-6FF0-6540-C9BA-6AA470CB33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sz="2800" b="1" i="1"/>
            </a:br>
            <a:r>
              <a:rPr lang="en-US" altLang="en-US" sz="2800" b="1" i="1"/>
              <a:t>Popular Tool for DevOps Automation </a:t>
            </a:r>
            <a:br>
              <a:rPr lang="en-US" altLang="en-US" sz="2800" b="1" i="1"/>
            </a:br>
            <a:endParaRPr lang="en-US" altLang="en-US" sz="2800"/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B7C1300A-60E2-24B6-DE11-1F778FE85A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Git </a:t>
            </a:r>
          </a:p>
          <a:p>
            <a:pPr lvl="1"/>
            <a:r>
              <a:rPr lang="en-US" altLang="en-US" sz="1600"/>
              <a:t> Version Control System tool </a:t>
            </a:r>
          </a:p>
          <a:p>
            <a:r>
              <a:rPr lang="en-US" altLang="en-US" sz="2000"/>
              <a:t>Jenkins </a:t>
            </a:r>
          </a:p>
          <a:p>
            <a:pPr lvl="1"/>
            <a:r>
              <a:rPr lang="en-US" altLang="en-US" sz="1600"/>
              <a:t> Continuous Integration tool </a:t>
            </a:r>
          </a:p>
          <a:p>
            <a:r>
              <a:rPr lang="en-US" altLang="en-US" sz="2000"/>
              <a:t>Selenium </a:t>
            </a:r>
          </a:p>
          <a:p>
            <a:pPr lvl="1"/>
            <a:r>
              <a:rPr lang="en-US" altLang="en-US" sz="1600"/>
              <a:t> Continuous Testing tool </a:t>
            </a:r>
          </a:p>
          <a:p>
            <a:r>
              <a:rPr lang="en-US" altLang="en-US" sz="2000"/>
              <a:t>Puppet, Chef, Ansible </a:t>
            </a:r>
          </a:p>
          <a:p>
            <a:pPr lvl="1"/>
            <a:r>
              <a:rPr lang="en-US" altLang="en-US" sz="1600"/>
              <a:t> Configuration Management and Deployment tools </a:t>
            </a:r>
          </a:p>
          <a:p>
            <a:r>
              <a:rPr lang="en-US" altLang="en-US" sz="2000"/>
              <a:t>Nagios </a:t>
            </a:r>
          </a:p>
          <a:p>
            <a:pPr lvl="1"/>
            <a:r>
              <a:rPr lang="en-US" altLang="en-US" sz="1600"/>
              <a:t> Continuous Monitoring tool </a:t>
            </a:r>
          </a:p>
          <a:p>
            <a:r>
              <a:rPr lang="en-US" altLang="en-US" sz="2000"/>
              <a:t>Docker </a:t>
            </a:r>
          </a:p>
          <a:p>
            <a:pPr lvl="1"/>
            <a:r>
              <a:rPr lang="en-US" altLang="en-US" sz="1600"/>
              <a:t> Containerization tool </a:t>
            </a:r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E9A55973-FC4E-621C-FDE8-6995CEA8B57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Continuous Integration</a:t>
            </a:r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43010" name="Picture 4" descr="jenkins.jpg">
            <a:extLst>
              <a:ext uri="{FF2B5EF4-FFF2-40B4-BE49-F238E27FC236}">
                <a16:creationId xmlns:a16="http://schemas.microsoft.com/office/drawing/2014/main" id="{FD420E37-BC00-FCE5-6B05-776041CB0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810000"/>
            <a:ext cx="21050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045AE695-2E33-AAD0-8E62-D445796790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Continuous Integration</a:t>
            </a: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6AA949CC-EBFA-3D03-D7E7-41C6CB2E65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development practice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developers are required to commit changes to source code in a shared repository several times a day.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Every commit is then built ,this allows the teams to detect problems early.</a:t>
            </a:r>
          </a:p>
          <a:p>
            <a:r>
              <a:rPr lang="en-US" altLang="en-US" sz="2000"/>
              <a:t>Has following benefits to software development: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Catch issues fast and nip them in the bud.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Everyone can see what’s happening.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Automate the build.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Leads to Continuous Deployment to deliver software more rapidly.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9F09F366-1147-B776-7E55-C8A3E8619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What is Continuous Integration...</a:t>
            </a:r>
            <a:endParaRPr lang="en-US" altLang="en-US"/>
          </a:p>
        </p:txBody>
      </p:sp>
      <p:pic>
        <p:nvPicPr>
          <p:cNvPr id="46082" name="Picture 2">
            <a:extLst>
              <a:ext uri="{FF2B5EF4-FFF2-40B4-BE49-F238E27FC236}">
                <a16:creationId xmlns:a16="http://schemas.microsoft.com/office/drawing/2014/main" id="{900D2DE0-2912-E2BC-FCB6-B9F2D44F10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2450" y="1801813"/>
            <a:ext cx="8039100" cy="3514725"/>
          </a:xfr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E168F2DB-8707-6882-F01E-4509F284AC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Continuous Integration</a:t>
            </a:r>
          </a:p>
        </p:txBody>
      </p:sp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D1578F75-6C13-AA94-2F26-C358393FE5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In a large project with many developers, commits are made many times during a day. With each commit code is built and tested.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If the test is passed, build is tested for deployment.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If deployment is a success, the code is pushed to production.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This commit, build, test, and deploy is a continuous process and hence the name continuous integration/deployment.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018428A7-12DE-5AE7-0882-AABAA6356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Continuous Integration tools 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105FCFE6-53C8-F4DF-8822-BE8284675F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Used to  </a:t>
            </a:r>
            <a:r>
              <a:rPr lang="en-US" altLang="en-US" sz="2000" b="1"/>
              <a:t>host</a:t>
            </a:r>
            <a:r>
              <a:rPr lang="en-US" altLang="en-US" sz="2000"/>
              <a:t>, </a:t>
            </a:r>
            <a:r>
              <a:rPr lang="en-US" altLang="en-US" sz="2000" b="1"/>
              <a:t>monitor</a:t>
            </a:r>
            <a:r>
              <a:rPr lang="en-US" altLang="en-US" sz="2000"/>
              <a:t>, </a:t>
            </a:r>
            <a:r>
              <a:rPr lang="en-US" altLang="en-US" sz="2000" b="1"/>
              <a:t>compile</a:t>
            </a:r>
            <a:r>
              <a:rPr lang="en-US" altLang="en-US" sz="2000"/>
              <a:t> and </a:t>
            </a:r>
            <a:r>
              <a:rPr lang="en-US" altLang="en-US" sz="2000" b="1"/>
              <a:t>test</a:t>
            </a:r>
            <a:r>
              <a:rPr lang="en-US" altLang="en-US" sz="2000"/>
              <a:t> code, or code changes, </a:t>
            </a:r>
          </a:p>
          <a:p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 b="1"/>
              <a:t>Continuous Integration Server</a:t>
            </a:r>
            <a:r>
              <a:rPr lang="en-US" altLang="en-US" sz="2000"/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Jenkins, Bamboo, CruiseControl, TeamCity, and others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Source Control Tool</a:t>
            </a:r>
            <a:r>
              <a:rPr lang="en-US" altLang="en-US" sz="2000"/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CVS, SVN, GIT, Mercurial, Perforce, ClearCase and others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Build tool</a:t>
            </a:r>
            <a:r>
              <a:rPr lang="en-US" altLang="en-US" sz="2000"/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Make, ANT, Maven, Ivy, Gradle, and others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Automation testing framework</a:t>
            </a:r>
            <a:r>
              <a:rPr lang="en-US" altLang="en-US" sz="2000"/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Selenium,, TestComplete, UFT, and others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8045CA68-F25E-0962-D2FB-0D1C32B6F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Jenkins</a:t>
            </a:r>
          </a:p>
        </p:txBody>
      </p:sp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2B64B861-CC73-5468-E299-4560F9C578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Leading open source continuous integration tool.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 lvl="1">
              <a:lnSpc>
                <a:spcPct val="150000"/>
              </a:lnSpc>
            </a:pPr>
            <a:r>
              <a:rPr lang="en-US" altLang="en-US" sz="2000"/>
              <a:t>Builds and tests software continuously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Monitors the execution and status of remote jobs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Easier for team members and users to regularly obtain the latest stable code.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Continuous Integration  is done by the help of Plugins.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It provides support for over 1000 Plugins .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>
              <a:lnSpc>
                <a:spcPct val="15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81276B07-BDF2-9CD4-43B8-45A8161CC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Advantages of using Jenkins</a:t>
            </a: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5AF24F4B-0111-A1B4-6352-7223D99154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altLang="en-US" sz="2000"/>
              <a:t>Jenkins is being managed by the community which is very open.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Created by a developer for developers.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As technology grows, so does Jenkins.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Has many plugins published in its plugins database.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With plugins, Jenkins becomes even more powerful and feature rich.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Jenkins also supports cloud-based architecture </a:t>
            </a:r>
          </a:p>
          <a:p>
            <a:pPr>
              <a:buFontTx/>
              <a:buNone/>
            </a:pPr>
            <a:br>
              <a:rPr lang="en-US" altLang="en-US" sz="2000"/>
            </a:br>
            <a:endParaRPr lang="en-US" altLang="en-US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F2C2BAAE-092D-849B-C49D-F8C8EFB724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Installing Jenkins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447D6D97-B254-E6D5-6366-D7865C2D8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Jenkins runs on Java, need latest version of Java Development Kit</a:t>
            </a:r>
          </a:p>
          <a:p>
            <a:pPr lvl="1">
              <a:defRPr/>
            </a:pPr>
            <a:r>
              <a:rPr lang="en-US" sz="1800" dirty="0"/>
              <a:t>Java –jar </a:t>
            </a:r>
            <a:r>
              <a:rPr lang="en-US" sz="1800" dirty="0" err="1"/>
              <a:t>Jenkins.war</a:t>
            </a:r>
            <a:endParaRPr lang="en-US" sz="1800" dirty="0"/>
          </a:p>
          <a:p>
            <a:pPr lvl="1">
              <a:defRPr/>
            </a:pPr>
            <a:r>
              <a:rPr lang="en-US" sz="1800" dirty="0"/>
              <a:t>Java –jar </a:t>
            </a:r>
            <a:r>
              <a:rPr lang="en-US" sz="1800" dirty="0" err="1"/>
              <a:t>Jenkins.war</a:t>
            </a:r>
            <a:r>
              <a:rPr lang="en-US" sz="1800" dirty="0"/>
              <a:t> –</a:t>
            </a:r>
            <a:r>
              <a:rPr lang="en-US" sz="1800" dirty="0" err="1">
                <a:solidFill>
                  <a:srgbClr val="CC3300"/>
                </a:solidFill>
              </a:rPr>
              <a:t>http</a:t>
            </a:r>
            <a:r>
              <a:rPr lang="en-US" sz="1800" b="1" dirty="0" err="1">
                <a:solidFill>
                  <a:srgbClr val="003399"/>
                </a:solidFill>
              </a:rPr>
              <a:t>P</a:t>
            </a:r>
            <a:r>
              <a:rPr lang="en-US" sz="1800" dirty="0" err="1">
                <a:solidFill>
                  <a:srgbClr val="CC3300"/>
                </a:solidFill>
              </a:rPr>
              <a:t>ort</a:t>
            </a:r>
            <a:r>
              <a:rPr lang="en-US" sz="1800" dirty="0"/>
              <a:t>=9090</a:t>
            </a:r>
          </a:p>
          <a:p>
            <a:pPr lvl="1">
              <a:defRPr/>
            </a:pPr>
            <a:endParaRPr lang="en-US" sz="1600" dirty="0"/>
          </a:p>
          <a:p>
            <a:pPr>
              <a:defRPr/>
            </a:pPr>
            <a:r>
              <a:rPr lang="en-US" sz="2000" dirty="0"/>
              <a:t>Can be downloaded from  https://jenkins.io/download/ 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Should select the required platform.</a:t>
            </a:r>
          </a:p>
          <a:p>
            <a:pPr lvl="1">
              <a:defRPr/>
            </a:pPr>
            <a:r>
              <a:rPr lang="en-US" sz="1600" dirty="0"/>
              <a:t>Unzip the downloaded package.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After completing the Jenkins installation process, a browser tab will pop-up asking for the initial Administrator password.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b="1" dirty="0"/>
              <a:t>To access Jenkins, : </a:t>
            </a:r>
            <a:r>
              <a:rPr lang="en-US" sz="2000" b="1" dirty="0">
                <a:hlinkClick r:id="rId2"/>
              </a:rPr>
              <a:t>http://localhost:8080</a:t>
            </a:r>
            <a:endParaRPr lang="en-US" sz="2000" b="1" dirty="0"/>
          </a:p>
        </p:txBody>
      </p:sp>
      <p:sp>
        <p:nvSpPr>
          <p:cNvPr id="51203" name="Rectangle 4">
            <a:extLst>
              <a:ext uri="{FF2B5EF4-FFF2-40B4-BE49-F238E27FC236}">
                <a16:creationId xmlns:a16="http://schemas.microsoft.com/office/drawing/2014/main" id="{DC19EC25-4DC6-D340-997A-18C8EB553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latin typeface="var(--ff-mono)"/>
              </a:rPr>
              <a:t>java -jar jenkins.war --httpPort=9090 </a:t>
            </a:r>
            <a:br>
              <a:rPr lang="en-US" altLang="en-US" sz="600"/>
            </a:br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BC5C291F-8846-43C5-35A9-49F18D93F0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Installing Jenkins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F055D-9339-B6E2-F735-4EA7A721D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The initial Administrator password should be found under the Jenkins installation path </a:t>
            </a:r>
          </a:p>
          <a:p>
            <a:pPr>
              <a:defRPr/>
            </a:pPr>
            <a:r>
              <a:rPr lang="en-US" sz="2000" b="1" dirty="0" err="1"/>
              <a:t>initialAdminPassword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A file with the above can be found under C:\Program Files (x86)\Jenkins\secrets.</a:t>
            </a:r>
          </a:p>
          <a:p>
            <a:pPr>
              <a:defRPr/>
            </a:pPr>
            <a:r>
              <a:rPr lang="en-US" sz="2000" b="1" dirty="0"/>
              <a:t>Customize Jenkins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Can customize  with "Install suggested </a:t>
            </a:r>
            <a:r>
              <a:rPr lang="en-US" sz="2000" dirty="0" err="1"/>
              <a:t>plugins</a:t>
            </a:r>
            <a:r>
              <a:rPr lang="en-US" sz="2000" dirty="0"/>
              <a:t> button"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Jenkins will retrieve and install the essential </a:t>
            </a:r>
            <a:r>
              <a:rPr lang="en-US" sz="2000" dirty="0" err="1"/>
              <a:t>plugins</a:t>
            </a: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After suggested </a:t>
            </a:r>
            <a:r>
              <a:rPr lang="en-US" sz="2000" dirty="0" err="1"/>
              <a:t>plugins</a:t>
            </a:r>
            <a:r>
              <a:rPr lang="en-US" sz="2000" dirty="0"/>
              <a:t> were installed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Use "Create First Admin User" panel to create users</a:t>
            </a:r>
            <a:br>
              <a:rPr lang="en-US" sz="2000" dirty="0"/>
            </a:br>
            <a:endParaRPr lang="en-US" sz="2000" dirty="0"/>
          </a:p>
          <a:p>
            <a:pPr lvl="1">
              <a:lnSpc>
                <a:spcPct val="150000"/>
              </a:lnSpc>
              <a:defRPr/>
            </a:pPr>
            <a:endParaRPr lang="en-US" sz="2000" dirty="0"/>
          </a:p>
          <a:p>
            <a:pPr lvl="1">
              <a:lnSpc>
                <a:spcPct val="150000"/>
              </a:lnSpc>
              <a:defRPr/>
            </a:pPr>
            <a:endParaRPr lang="en-US" sz="2000" dirty="0"/>
          </a:p>
          <a:p>
            <a:pPr>
              <a:buFontTx/>
              <a:buNone/>
              <a:defRPr/>
            </a:pPr>
            <a:br>
              <a:rPr lang="en-US" dirty="0"/>
            </a:br>
            <a:endParaRPr lang="en-US" sz="2000" dirty="0"/>
          </a:p>
          <a:p>
            <a:pPr lvl="1">
              <a:defRPr/>
            </a:pPr>
            <a:endParaRPr lang="en-US" sz="2000" dirty="0">
              <a:ea typeface="+mn-ea"/>
              <a:cs typeface="+mn-cs"/>
            </a:endParaRPr>
          </a:p>
          <a:p>
            <a:pPr>
              <a:buFontTx/>
              <a:buNone/>
              <a:defRPr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E22EBD34-5457-640F-E166-A2EC96EDA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Unlocking Jenkins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53250" name="Content Placeholder 2">
            <a:extLst>
              <a:ext uri="{FF2B5EF4-FFF2-40B4-BE49-F238E27FC236}">
                <a16:creationId xmlns:a16="http://schemas.microsoft.com/office/drawing/2014/main" id="{5B5A0E8A-D674-B358-AF72-995BF4BA4A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Need to unlock Jenkins instance  on first access </a:t>
            </a:r>
          </a:p>
          <a:p>
            <a:pPr lvl="1"/>
            <a:r>
              <a:rPr lang="en-US" altLang="en-US" sz="2000"/>
              <a:t>Should Enter an automatically-generated password.</a:t>
            </a:r>
          </a:p>
          <a:p>
            <a:pPr lvl="1"/>
            <a:endParaRPr lang="en-US" altLang="en-US" sz="2000"/>
          </a:p>
          <a:p>
            <a:pPr lvl="1"/>
            <a:endParaRPr lang="en-US" altLang="en-US" sz="2000"/>
          </a:p>
          <a:p>
            <a:pPr lvl="1"/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IN" altLang="en-US" sz="2000"/>
          </a:p>
        </p:txBody>
      </p:sp>
      <p:pic>
        <p:nvPicPr>
          <p:cNvPr id="53251" name="Picture 2" descr="Unlock Jenkins page">
            <a:extLst>
              <a:ext uri="{FF2B5EF4-FFF2-40B4-BE49-F238E27FC236}">
                <a16:creationId xmlns:a16="http://schemas.microsoft.com/office/drawing/2014/main" id="{CA57B7B5-7581-FB4C-1BCD-1B155DDE8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1951038"/>
            <a:ext cx="7486650" cy="422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D6D23D1C-E2E5-5D88-B7AD-9F89D4766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Creating Admin User</a:t>
            </a:r>
          </a:p>
        </p:txBody>
      </p:sp>
      <p:pic>
        <p:nvPicPr>
          <p:cNvPr id="54274" name="Picture 2">
            <a:extLst>
              <a:ext uri="{FF2B5EF4-FFF2-40B4-BE49-F238E27FC236}">
                <a16:creationId xmlns:a16="http://schemas.microsoft.com/office/drawing/2014/main" id="{5FD1457B-7D69-B52F-357E-6DD8EDA33F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5500" y="1652588"/>
            <a:ext cx="7493000" cy="3810000"/>
          </a:xfr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E59B95D2-4465-4461-633D-546C068A3C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Customize Jenkins</a:t>
            </a:r>
          </a:p>
        </p:txBody>
      </p:sp>
      <p:pic>
        <p:nvPicPr>
          <p:cNvPr id="55298" name="Picture 2">
            <a:extLst>
              <a:ext uri="{FF2B5EF4-FFF2-40B4-BE49-F238E27FC236}">
                <a16:creationId xmlns:a16="http://schemas.microsoft.com/office/drawing/2014/main" id="{625E2DFA-2444-F473-9395-AF3E75D646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1850" y="1671638"/>
            <a:ext cx="7480300" cy="3771900"/>
          </a:xfr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7872C811-BED5-A7B3-04C5-AFB2AB196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Customize Jenkins</a:t>
            </a:r>
          </a:p>
        </p:txBody>
      </p:sp>
      <p:pic>
        <p:nvPicPr>
          <p:cNvPr id="56322" name="Picture 2">
            <a:extLst>
              <a:ext uri="{FF2B5EF4-FFF2-40B4-BE49-F238E27FC236}">
                <a16:creationId xmlns:a16="http://schemas.microsoft.com/office/drawing/2014/main" id="{DC6C94B2-B22A-54B0-DA03-D66FC92605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5500" y="1919288"/>
            <a:ext cx="7493000" cy="3276600"/>
          </a:xfr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9F4BE877-C829-9C6F-5915-FFB9AD4D9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Instance Configurtion</a:t>
            </a:r>
          </a:p>
        </p:txBody>
      </p:sp>
      <p:pic>
        <p:nvPicPr>
          <p:cNvPr id="57346" name="Picture 2">
            <a:extLst>
              <a:ext uri="{FF2B5EF4-FFF2-40B4-BE49-F238E27FC236}">
                <a16:creationId xmlns:a16="http://schemas.microsoft.com/office/drawing/2014/main" id="{120ABFBC-5AB4-757E-E905-4A71568FAD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5500" y="1862138"/>
            <a:ext cx="7493000" cy="3390900"/>
          </a:xfr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628D1AD4-684B-1DB4-2081-51631CEA5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Jenkins Ready</a:t>
            </a:r>
          </a:p>
        </p:txBody>
      </p:sp>
      <p:pic>
        <p:nvPicPr>
          <p:cNvPr id="58370" name="Picture 2">
            <a:extLst>
              <a:ext uri="{FF2B5EF4-FFF2-40B4-BE49-F238E27FC236}">
                <a16:creationId xmlns:a16="http://schemas.microsoft.com/office/drawing/2014/main" id="{5C321503-56F0-CCE7-9CDA-DA88C737DE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2800" y="1677988"/>
            <a:ext cx="7518400" cy="3759200"/>
          </a:xfr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744AE09A-E480-A22A-72A4-72B332A663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Jenkins Dash Board</a:t>
            </a:r>
          </a:p>
        </p:txBody>
      </p:sp>
      <p:sp>
        <p:nvSpPr>
          <p:cNvPr id="59394" name="Content Placeholder 2">
            <a:extLst>
              <a:ext uri="{FF2B5EF4-FFF2-40B4-BE49-F238E27FC236}">
                <a16:creationId xmlns:a16="http://schemas.microsoft.com/office/drawing/2014/main" id="{FB8A501E-8DB9-433C-DF42-A68059E960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Jenkins dashboard is primary control point for interacting with Jenkins.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It includes controls for creating and running builds, inspecting build output, working with credentials and configuring Jenkins.</a:t>
            </a:r>
          </a:p>
          <a:p>
            <a:endParaRPr lang="en-US" altLang="en-US" sz="2000"/>
          </a:p>
          <a:p>
            <a:r>
              <a:rPr lang="en-US" altLang="en-US" sz="2000"/>
              <a:t>Can create Jenkins jobs from the Dash Board</a:t>
            </a:r>
          </a:p>
          <a:p>
            <a:pPr>
              <a:buFontTx/>
              <a:buNone/>
            </a:pPr>
            <a:br>
              <a:rPr lang="en-US" altLang="en-US" sz="2000"/>
            </a:br>
            <a:r>
              <a:rPr lang="en-US" altLang="en-US" sz="2000"/>
              <a:t> </a:t>
            </a:r>
          </a:p>
          <a:p>
            <a:pPr>
              <a:buFontTx/>
              <a:buNone/>
            </a:pPr>
            <a:br>
              <a:rPr lang="en-US" altLang="en-US"/>
            </a:b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:a16="http://schemas.microsoft.com/office/drawing/2014/main" id="{949BAFD9-6A5C-6879-B3A5-8C989827F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New Job</a:t>
            </a:r>
          </a:p>
        </p:txBody>
      </p:sp>
      <p:pic>
        <p:nvPicPr>
          <p:cNvPr id="60418" name="Content Placeholder 3" descr="image1.jpg">
            <a:extLst>
              <a:ext uri="{FF2B5EF4-FFF2-40B4-BE49-F238E27FC236}">
                <a16:creationId xmlns:a16="http://schemas.microsoft.com/office/drawing/2014/main" id="{6A1854BA-D8C8-A719-09A9-0C1E85324E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6750" y="990600"/>
            <a:ext cx="7810500" cy="5135563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C228166D-C0CB-B8B4-FE11-3ACB1F3E4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 Project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ACBD9C7A-335D-EB49-DC12-EA9F495E25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Begin by clicking the “New Item” link in the Jenkins dashboard.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Enter a name for the new project and select “Freestyle project”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Opens project configuration page</a:t>
            </a:r>
          </a:p>
          <a:p>
            <a:pPr lvl="1">
              <a:lnSpc>
                <a:spcPct val="150000"/>
              </a:lnSpc>
            </a:pPr>
            <a:r>
              <a:rPr lang="en-US" altLang="en-US" sz="1600"/>
              <a:t>Can define various aspects of the build.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Select the “Build” section.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Choose  “Add build step” button and add a step to “Execute window based command”.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In the  “Command” box, enter a command that displays output and Save” </a:t>
            </a:r>
          </a:p>
          <a:p>
            <a:pPr lvl="1">
              <a:lnSpc>
                <a:spcPct val="150000"/>
              </a:lnSpc>
            </a:pPr>
            <a:r>
              <a:rPr lang="en-US" altLang="en-US" sz="1600"/>
              <a:t>echo “Hello world”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From the project page click the “Build now” link.</a:t>
            </a:r>
          </a:p>
          <a:p>
            <a:pPr>
              <a:buFontTx/>
              <a:buNone/>
            </a:pPr>
            <a:br>
              <a:rPr lang="en-US" altLang="en-US" sz="2000"/>
            </a:br>
            <a:endParaRPr lang="en-US" alt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FD983CFE-E17A-8180-7B3F-C52A0D68B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Building with Jenkins</a:t>
            </a:r>
          </a:p>
        </p:txBody>
      </p:sp>
      <p:sp>
        <p:nvSpPr>
          <p:cNvPr id="62466" name="Content Placeholder 2">
            <a:extLst>
              <a:ext uri="{FF2B5EF4-FFF2-40B4-BE49-F238E27FC236}">
                <a16:creationId xmlns:a16="http://schemas.microsoft.com/office/drawing/2014/main" id="{E461E6E3-CB5A-9E7B-0505-8E344046A8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Jenkins will build the project. </a:t>
            </a:r>
          </a:p>
          <a:p>
            <a:r>
              <a:rPr lang="en-US" altLang="en-US" sz="2000"/>
              <a:t>The “Build History” panel in the bottom left corner of the page will show you the status of the build </a:t>
            </a:r>
          </a:p>
          <a:p>
            <a:r>
              <a:rPr lang="en-US" altLang="en-US" sz="2000"/>
              <a:t>Blue indicates success, red indicates failure</a:t>
            </a:r>
          </a:p>
          <a:p>
            <a:endParaRPr lang="en-US" altLang="en-US" sz="2000"/>
          </a:p>
        </p:txBody>
      </p:sp>
      <p:pic>
        <p:nvPicPr>
          <p:cNvPr id="62467" name="Picture 3" descr="image2.png">
            <a:extLst>
              <a:ext uri="{FF2B5EF4-FFF2-40B4-BE49-F238E27FC236}">
                <a16:creationId xmlns:a16="http://schemas.microsoft.com/office/drawing/2014/main" id="{E015715B-9BF7-0645-DF69-B32B7454D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3" y="2590800"/>
            <a:ext cx="811847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3DC17E35-7B00-C9E3-4489-9319315C0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63490" name="Picture 2">
            <a:extLst>
              <a:ext uri="{FF2B5EF4-FFF2-40B4-BE49-F238E27FC236}">
                <a16:creationId xmlns:a16="http://schemas.microsoft.com/office/drawing/2014/main" id="{B36B9301-FBEC-75C4-2F37-7F6A6CA24C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143000"/>
            <a:ext cx="8077200" cy="4724400"/>
          </a:xfr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76EFA112-5F36-3658-E23D-6955D91BF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Jenkins Build Jobs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64514" name="Content Placeholder 2">
            <a:extLst>
              <a:ext uri="{FF2B5EF4-FFF2-40B4-BE49-F238E27FC236}">
                <a16:creationId xmlns:a16="http://schemas.microsoft.com/office/drawing/2014/main" id="{A256D282-4708-4F07-FF61-484C42C63B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b="1"/>
              <a:t>Freestyle job: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General-purpose build jobs with maximum flexibility and multiple configuration options.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Can be used for any project type.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Easy to Set up 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Maven Project: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Specially designed for Maven projects.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Can use the POM files and project structures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Gathers information from the POM file to minimize the setup work for your project.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0FC2B2A4-49FF-0559-68D0-ED2301F17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Jenkins Plugins</a:t>
            </a:r>
          </a:p>
        </p:txBody>
      </p:sp>
      <p:sp>
        <p:nvSpPr>
          <p:cNvPr id="65538" name="Content Placeholder 2">
            <a:extLst>
              <a:ext uri="{FF2B5EF4-FFF2-40B4-BE49-F238E27FC236}">
                <a16:creationId xmlns:a16="http://schemas.microsoft.com/office/drawing/2014/main" id="{C9AA9D0A-5A22-54CE-6B53-F8B187738C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The default version of Jenkins comes with a limited set of features. </a:t>
            </a:r>
          </a:p>
          <a:p>
            <a:endParaRPr lang="en-US" altLang="en-US" sz="2000"/>
          </a:p>
          <a:p>
            <a:r>
              <a:rPr lang="en-US" altLang="en-US" sz="2000"/>
              <a:t>To integrate with version control tools like Git, need to install plugins. </a:t>
            </a:r>
          </a:p>
          <a:p>
            <a:endParaRPr lang="en-US" altLang="en-US" sz="2000"/>
          </a:p>
          <a:p>
            <a:r>
              <a:rPr lang="en-US" altLang="en-US" sz="2000"/>
              <a:t>Also Need to add  tools and plugins for Maven, Docker etc</a:t>
            </a:r>
          </a:p>
          <a:p>
            <a:endParaRPr lang="en-US" altLang="en-US" sz="2000"/>
          </a:p>
          <a:p>
            <a:r>
              <a:rPr lang="en-US" altLang="en-US" sz="2000"/>
              <a:t>Jenkins May install these suggested plugins at the beginning itself.</a:t>
            </a:r>
          </a:p>
          <a:p>
            <a:pPr lvl="1"/>
            <a:r>
              <a:rPr lang="en-US" altLang="en-US" sz="2000"/>
              <a:t>Can also add it later</a:t>
            </a:r>
          </a:p>
          <a:p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62467497-52B3-D000-F501-2D45E56B0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Working of  Jenkins</a:t>
            </a:r>
          </a:p>
        </p:txBody>
      </p:sp>
      <p:pic>
        <p:nvPicPr>
          <p:cNvPr id="66562" name="Content Placeholder 3" descr="jenkins.jpg">
            <a:extLst>
              <a:ext uri="{FF2B5EF4-FFF2-40B4-BE49-F238E27FC236}">
                <a16:creationId xmlns:a16="http://schemas.microsoft.com/office/drawing/2014/main" id="{5BD30954-7123-FBE2-2043-AE7F45EB8C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81113" y="990600"/>
            <a:ext cx="6581775" cy="5135563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75877677-69FE-E615-E600-516A50F9AC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Setting up Jenkins and Maven</a:t>
            </a:r>
            <a:endParaRPr lang="en-IN" altLang="en-US"/>
          </a:p>
        </p:txBody>
      </p:sp>
      <p:sp>
        <p:nvSpPr>
          <p:cNvPr id="67586" name="Content Placeholder 2">
            <a:extLst>
              <a:ext uri="{FF2B5EF4-FFF2-40B4-BE49-F238E27FC236}">
                <a16:creationId xmlns:a16="http://schemas.microsoft.com/office/drawing/2014/main" id="{23EEDCF6-4598-6B7A-A574-1B91A4F7F5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1800"/>
              <a:t>Download Maven from Apache Maven. 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Extract the files to the relevant application folder. 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Navigate to the Jenkins dashboard 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Select Manage Jenkins 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Select ‘Configure System’ 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In the Configure system screen, scroll down to Maven section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Select  ‘Add Maven’ button.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Uncheck the ‘Install automatically’ option.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Add name for the setting and the location of the M2_HOME.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Click on the ‘Save’ button at the end of the screen.</a:t>
            </a:r>
          </a:p>
          <a:p>
            <a:pPr>
              <a:lnSpc>
                <a:spcPct val="150000"/>
              </a:lnSpc>
            </a:pPr>
            <a:endParaRPr lang="en-US" altLang="en-US" sz="1800"/>
          </a:p>
          <a:p>
            <a:pPr>
              <a:lnSpc>
                <a:spcPct val="150000"/>
              </a:lnSpc>
            </a:pPr>
            <a:endParaRPr lang="en-US" altLang="en-US" sz="1800"/>
          </a:p>
          <a:p>
            <a:pPr>
              <a:lnSpc>
                <a:spcPct val="150000"/>
              </a:lnSpc>
            </a:pPr>
            <a:endParaRPr lang="en-US" altLang="en-US" sz="1800"/>
          </a:p>
          <a:p>
            <a:pPr>
              <a:lnSpc>
                <a:spcPct val="150000"/>
              </a:lnSpc>
            </a:pPr>
            <a:endParaRPr lang="en-US" altLang="en-US" sz="1800"/>
          </a:p>
          <a:p>
            <a:pPr>
              <a:lnSpc>
                <a:spcPct val="150000"/>
              </a:lnSpc>
            </a:pPr>
            <a:endParaRPr lang="en-IN" altLang="en-US"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2609016D-95AE-298E-2479-35F58D1B3E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Build A Maven Project from GitHub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22376AA6-C26F-9603-B969-02639B4CB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2000" dirty="0"/>
              <a:t>Can Build project stored in an external SCM, such as </a:t>
            </a:r>
            <a:r>
              <a:rPr lang="en-US" sz="2000" u="sng" dirty="0" err="1">
                <a:hlinkClick r:id="rId2"/>
              </a:rPr>
              <a:t>GitHub</a:t>
            </a:r>
            <a:r>
              <a:rPr lang="en-US" sz="2000" dirty="0"/>
              <a:t>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From the dashboard. Select the project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Choose the “Configure” button for the project.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In the project configuration page,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Choose “Source Code Management” section,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Choose </a:t>
            </a:r>
            <a:r>
              <a:rPr lang="en-US" sz="2000" dirty="0">
                <a:ea typeface="+mn-ea"/>
                <a:cs typeface="+mn-cs"/>
              </a:rPr>
              <a:t>“</a:t>
            </a:r>
            <a:r>
              <a:rPr lang="en-US" sz="2000" dirty="0" err="1">
                <a:ea typeface="+mn-ea"/>
                <a:cs typeface="+mn-cs"/>
              </a:rPr>
              <a:t>Git</a:t>
            </a:r>
            <a:r>
              <a:rPr lang="en-US" sz="2000" dirty="0">
                <a:ea typeface="+mn-ea"/>
                <a:cs typeface="+mn-cs"/>
              </a:rPr>
              <a:t>” as the option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Enter </a:t>
            </a:r>
            <a:r>
              <a:rPr lang="en-US" sz="2000" dirty="0">
                <a:ea typeface="+mn-ea"/>
                <a:cs typeface="+mn-cs"/>
              </a:rPr>
              <a:t>the clone URL for your </a:t>
            </a:r>
            <a:r>
              <a:rPr lang="en-US" sz="2000" dirty="0" err="1">
                <a:ea typeface="+mn-ea"/>
                <a:cs typeface="+mn-cs"/>
              </a:rPr>
              <a:t>GitHub</a:t>
            </a:r>
            <a:r>
              <a:rPr lang="en-US" sz="2000" dirty="0">
                <a:ea typeface="+mn-ea"/>
                <a:cs typeface="+mn-cs"/>
              </a:rPr>
              <a:t> repository.</a:t>
            </a:r>
          </a:p>
          <a:p>
            <a:pPr>
              <a:defRPr/>
            </a:pP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4C94C687-2260-0922-F4F0-AD573CDBC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Build A Project From GitHub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ACE7B759-E46E-F4B8-B219-589D4AB7A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2000" dirty="0"/>
              <a:t>From the project configuration page select  “Build” section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Add a new build step to “Invoke top-level Maven targets”.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In the “Maven Version” field, select the name of the Maven installation just created.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In the “Goals” field, specify the Maven goals as “clean package”.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Head back to the project page and click the “Build now” link.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Jenkins should clone </a:t>
            </a:r>
            <a:r>
              <a:rPr lang="en-US" sz="2000" dirty="0" err="1"/>
              <a:t>GitHub</a:t>
            </a:r>
            <a:r>
              <a:rPr lang="en-US" sz="2000" dirty="0"/>
              <a:t> repository and build it with Maven.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Once the build is complete, select the “Console Output” menu item to access detailed build information.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98D0E69F-4D21-39FA-6E62-23DBA5906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487363"/>
          </a:xfrm>
        </p:spPr>
        <p:txBody>
          <a:bodyPr/>
          <a:lstStyle/>
          <a:p>
            <a:r>
              <a:rPr lang="en-IN" altLang="en-US"/>
              <a:t>Jenkins Build</a:t>
            </a:r>
          </a:p>
        </p:txBody>
      </p:sp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DF8130D9-75BA-F0D9-70AF-4F73B503C5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/>
              <a:t>Status of the build is indicated in two ways, by a weather icon and by a colored ball.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weather icon shows you a record of multiple builds in one image.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sun represents that builds were successful.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color of the ball gives us the status of that build,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Red shows failure.</a:t>
            </a:r>
          </a:p>
          <a:p>
            <a:endParaRPr lang="en-IN" altLang="en-US"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F54DDF-A1CD-F9BE-B49E-C219DFE2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Build trigger</a:t>
            </a:r>
          </a:p>
        </p:txBody>
      </p:sp>
      <p:sp>
        <p:nvSpPr>
          <p:cNvPr id="71682" name="Text Placeholder 4">
            <a:extLst>
              <a:ext uri="{FF2B5EF4-FFF2-40B4-BE49-F238E27FC236}">
                <a16:creationId xmlns:a16="http://schemas.microsoft.com/office/drawing/2014/main" id="{1E5D3252-B57B-2E0D-4549-FAA894EAD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B1238C9B-CD10-072B-C6B5-B7F8D886EB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Build Trigger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CC6D5615-9131-A5D7-F5FF-E6B8564C39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en-US" sz="2000" dirty="0">
                <a:solidFill>
                  <a:srgbClr val="3A3A3A"/>
                </a:solidFill>
              </a:rPr>
              <a:t>Trigger 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2000" dirty="0">
                <a:solidFill>
                  <a:srgbClr val="3A3A3A"/>
                </a:solidFill>
              </a:rPr>
              <a:t>Execute a job on an event occurrence. 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2000" dirty="0">
                <a:solidFill>
                  <a:srgbClr val="3A3A3A"/>
                </a:solidFill>
              </a:rPr>
              <a:t>This event is called a trigger. 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2000" dirty="0">
                <a:solidFill>
                  <a:srgbClr val="3A3A3A"/>
                </a:solidFill>
              </a:rPr>
              <a:t>Has list of build triggers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br>
              <a:rPr lang="en-US" altLang="en-US" dirty="0"/>
            </a:br>
            <a:endParaRPr lang="en-I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>
            <a:extLst>
              <a:ext uri="{FF2B5EF4-FFF2-40B4-BE49-F238E27FC236}">
                <a16:creationId xmlns:a16="http://schemas.microsoft.com/office/drawing/2014/main" id="{34EF9426-C0B8-B6E8-3F74-BE5E0ECE6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List of Build Triggers</a:t>
            </a:r>
          </a:p>
        </p:txBody>
      </p:sp>
      <p:sp>
        <p:nvSpPr>
          <p:cNvPr id="73730" name="Content Placeholder 2">
            <a:extLst>
              <a:ext uri="{FF2B5EF4-FFF2-40B4-BE49-F238E27FC236}">
                <a16:creationId xmlns:a16="http://schemas.microsoft.com/office/drawing/2014/main" id="{F50B2E5D-B068-4F3D-878C-E9489C6192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b="1">
                <a:solidFill>
                  <a:srgbClr val="3A3A3A"/>
                </a:solidFill>
              </a:rPr>
              <a:t>Trigger build remotely</a:t>
            </a:r>
            <a:r>
              <a:rPr lang="en-US" altLang="en-US" sz="1800">
                <a:solidFill>
                  <a:srgbClr val="3A3A3A"/>
                </a:solidFill>
              </a:rPr>
              <a:t>: </a:t>
            </a:r>
          </a:p>
          <a:p>
            <a:pPr lvl="1"/>
            <a:r>
              <a:rPr lang="en-US" altLang="en-US" sz="1800">
                <a:solidFill>
                  <a:srgbClr val="3A3A3A"/>
                </a:solidFill>
              </a:rPr>
              <a:t>The job is usually triggered by accessing a specified URL. This is convenient for scripts. With the URL, one needs to mention the authorization token as well.</a:t>
            </a:r>
          </a:p>
          <a:p>
            <a:r>
              <a:rPr lang="en-US" altLang="en-US" sz="1800" b="1">
                <a:solidFill>
                  <a:srgbClr val="3A3A3A"/>
                </a:solidFill>
              </a:rPr>
              <a:t>Build after other projects are built</a:t>
            </a:r>
            <a:r>
              <a:rPr lang="en-US" altLang="en-US" sz="1800">
                <a:solidFill>
                  <a:srgbClr val="3A3A3A"/>
                </a:solidFill>
              </a:rPr>
              <a:t>: </a:t>
            </a:r>
          </a:p>
          <a:p>
            <a:pPr lvl="1"/>
            <a:r>
              <a:rPr lang="en-US" altLang="en-US" sz="1800">
                <a:solidFill>
                  <a:srgbClr val="3A3A3A"/>
                </a:solidFill>
              </a:rPr>
              <a:t>As it reads, we need to mention the list of other projects, once those projects are built then the present job is executed.</a:t>
            </a:r>
          </a:p>
          <a:p>
            <a:r>
              <a:rPr lang="en-US" altLang="en-US" sz="1800" b="1">
                <a:solidFill>
                  <a:srgbClr val="3A3A3A"/>
                </a:solidFill>
              </a:rPr>
              <a:t>Build periodically</a:t>
            </a:r>
            <a:r>
              <a:rPr lang="en-US" altLang="en-US" sz="1800">
                <a:solidFill>
                  <a:srgbClr val="3A3A3A"/>
                </a:solidFill>
              </a:rPr>
              <a:t>: </a:t>
            </a:r>
          </a:p>
          <a:p>
            <a:pPr lvl="1"/>
            <a:r>
              <a:rPr lang="en-US" altLang="en-US" sz="1800">
                <a:solidFill>
                  <a:srgbClr val="3A3A3A"/>
                </a:solidFill>
              </a:rPr>
              <a:t>The build is triggered based on the mentioned time. A cron has to be mentioned here.</a:t>
            </a:r>
          </a:p>
          <a:p>
            <a:r>
              <a:rPr lang="en-US" altLang="en-US" sz="1800" b="1">
                <a:solidFill>
                  <a:srgbClr val="3A3A3A"/>
                </a:solidFill>
              </a:rPr>
              <a:t>Poll SCM</a:t>
            </a:r>
            <a:r>
              <a:rPr lang="en-US" altLang="en-US" sz="1800">
                <a:solidFill>
                  <a:srgbClr val="3A3A3A"/>
                </a:solidFill>
              </a:rPr>
              <a:t>: </a:t>
            </a:r>
          </a:p>
          <a:p>
            <a:pPr lvl="1"/>
            <a:r>
              <a:rPr lang="en-US" altLang="en-US" sz="1800">
                <a:solidFill>
                  <a:srgbClr val="3A3A3A"/>
                </a:solidFill>
              </a:rPr>
              <a:t>Configure Jenkins to poll the SCM for ant pushes or commits and then trigger the jobs.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CCEEBAC7-5E5C-B68B-6C35-D704A123F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Polling the SCM</a:t>
            </a:r>
          </a:p>
        </p:txBody>
      </p:sp>
      <p:sp>
        <p:nvSpPr>
          <p:cNvPr id="74754" name="Content Placeholder 2">
            <a:extLst>
              <a:ext uri="{FF2B5EF4-FFF2-40B4-BE49-F238E27FC236}">
                <a16:creationId xmlns:a16="http://schemas.microsoft.com/office/drawing/2014/main" id="{256A14AE-1B24-9273-C7F5-39BE078638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Tx/>
              <a:buAutoNum type="arabicPeriod"/>
            </a:pPr>
            <a:r>
              <a:rPr lang="en-US" altLang="en-US" sz="2000">
                <a:solidFill>
                  <a:srgbClr val="3A3A3A"/>
                </a:solidFill>
              </a:rPr>
              <a:t>Click on the “Configure” of the job created in the Jenkins dashboard.</a:t>
            </a:r>
          </a:p>
          <a:p>
            <a:pPr>
              <a:lnSpc>
                <a:spcPct val="150000"/>
              </a:lnSpc>
              <a:buFontTx/>
              <a:buAutoNum type="arabicPeriod"/>
            </a:pPr>
            <a:r>
              <a:rPr lang="en-US" altLang="en-US" sz="2000">
                <a:solidFill>
                  <a:srgbClr val="3A3A3A"/>
                </a:solidFill>
              </a:rPr>
              <a:t>Click on build triggers in the configure settings and select the Poll SCM.</a:t>
            </a:r>
          </a:p>
          <a:p>
            <a:pPr>
              <a:lnSpc>
                <a:spcPct val="150000"/>
              </a:lnSpc>
              <a:buFontTx/>
              <a:buAutoNum type="arabicPeriod"/>
            </a:pPr>
            <a:r>
              <a:rPr lang="en-US" altLang="en-US" sz="2000">
                <a:solidFill>
                  <a:srgbClr val="3A3A3A"/>
                </a:solidFill>
              </a:rPr>
              <a:t>Enter the desired cron to poll the SCM. Here we have given * * * * which means the Jenkins polls the SCM every minute.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>
            <a:extLst>
              <a:ext uri="{FF2B5EF4-FFF2-40B4-BE49-F238E27FC236}">
                <a16:creationId xmlns:a16="http://schemas.microsoft.com/office/drawing/2014/main" id="{21FB6CC3-781D-7339-0519-142D3F76D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Build Triggers</a:t>
            </a:r>
          </a:p>
        </p:txBody>
      </p:sp>
      <p:pic>
        <p:nvPicPr>
          <p:cNvPr id="75778" name="Picture 2" descr="Figure.10 List of build triggers">
            <a:extLst>
              <a:ext uri="{FF2B5EF4-FFF2-40B4-BE49-F238E27FC236}">
                <a16:creationId xmlns:a16="http://schemas.microsoft.com/office/drawing/2014/main" id="{3CC6E54D-585F-42B5-A16E-94539A30FD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57313" y="1287463"/>
            <a:ext cx="6429375" cy="4543425"/>
          </a:xfr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5047495F-8F81-5EBF-34A3-28C78EBB7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CRON </a:t>
            </a:r>
          </a:p>
        </p:txBody>
      </p:sp>
      <p:sp>
        <p:nvSpPr>
          <p:cNvPr id="76802" name="Content Placeholder 2">
            <a:extLst>
              <a:ext uri="{FF2B5EF4-FFF2-40B4-BE49-F238E27FC236}">
                <a16:creationId xmlns:a16="http://schemas.microsoft.com/office/drawing/2014/main" id="{424F8C4A-C36B-3E60-CCF0-A8EE376FE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>
                <a:solidFill>
                  <a:srgbClr val="111111"/>
                </a:solidFill>
              </a:rPr>
              <a:t>CRON contains 5 places for each time entry</a:t>
            </a:r>
          </a:p>
          <a:p>
            <a:endParaRPr lang="en-US" altLang="en-US" sz="1800">
              <a:solidFill>
                <a:srgbClr val="999999"/>
              </a:solidFill>
            </a:endParaRPr>
          </a:p>
          <a:p>
            <a:r>
              <a:rPr lang="en-US" altLang="en-US" sz="1800" b="1">
                <a:solidFill>
                  <a:srgbClr val="111111"/>
                </a:solidFill>
              </a:rPr>
              <a:t>Minute (0-59) </a:t>
            </a:r>
          </a:p>
          <a:p>
            <a:pPr lvl="1"/>
            <a:r>
              <a:rPr lang="en-US" altLang="en-US" sz="1800">
                <a:solidFill>
                  <a:srgbClr val="111111"/>
                </a:solidFill>
              </a:rPr>
              <a:t> tells at what minute of the hour the Job should build.</a:t>
            </a:r>
          </a:p>
          <a:p>
            <a:r>
              <a:rPr lang="en-US" altLang="en-US" sz="1800" b="1">
                <a:solidFill>
                  <a:srgbClr val="111111"/>
                </a:solidFill>
              </a:rPr>
              <a:t>Hour (0-23 With 0 is the midnight) </a:t>
            </a:r>
          </a:p>
          <a:p>
            <a:pPr lvl="1"/>
            <a:r>
              <a:rPr lang="en-US" altLang="en-US" sz="1800">
                <a:solidFill>
                  <a:srgbClr val="111111"/>
                </a:solidFill>
              </a:rPr>
              <a:t> tells at what hour the job should build in the 24-hour clock. </a:t>
            </a:r>
          </a:p>
          <a:p>
            <a:r>
              <a:rPr lang="en-US" altLang="en-US" sz="1800" b="1">
                <a:solidFill>
                  <a:srgbClr val="111111"/>
                </a:solidFill>
              </a:rPr>
              <a:t>Day of the month (1-31) </a:t>
            </a:r>
          </a:p>
          <a:p>
            <a:pPr lvl="1"/>
            <a:r>
              <a:rPr lang="en-US" altLang="en-US" sz="1800">
                <a:solidFill>
                  <a:srgbClr val="111111"/>
                </a:solidFill>
              </a:rPr>
              <a:t>- tells on which day of the month your job should build. e.g. 23rd of each month. </a:t>
            </a:r>
          </a:p>
          <a:p>
            <a:r>
              <a:rPr lang="en-US" altLang="en-US" sz="1800" b="1">
                <a:solidFill>
                  <a:srgbClr val="111111"/>
                </a:solidFill>
              </a:rPr>
              <a:t>Month (1-12) </a:t>
            </a:r>
          </a:p>
          <a:p>
            <a:pPr lvl="1"/>
            <a:r>
              <a:rPr lang="en-US" altLang="en-US" sz="1800">
                <a:solidFill>
                  <a:srgbClr val="111111"/>
                </a:solidFill>
              </a:rPr>
              <a:t> tells the month when your job should build. You can number or name the month as well I.e. April, May etc.</a:t>
            </a:r>
          </a:p>
          <a:p>
            <a:r>
              <a:rPr lang="en-US" altLang="en-US" sz="1800" b="1">
                <a:solidFill>
                  <a:srgbClr val="111111"/>
                </a:solidFill>
              </a:rPr>
              <a:t>Day of the week (0-7 With 0 or 7 both being Sunday) </a:t>
            </a:r>
          </a:p>
          <a:p>
            <a:pPr lvl="1"/>
            <a:r>
              <a:rPr lang="en-US" altLang="en-US" sz="1800">
                <a:solidFill>
                  <a:srgbClr val="111111"/>
                </a:solidFill>
              </a:rPr>
              <a:t> tells the day of the week when you want to build your job. It can also be a number or name like Mon etc.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>
            <a:extLst>
              <a:ext uri="{FF2B5EF4-FFF2-40B4-BE49-F238E27FC236}">
                <a16:creationId xmlns:a16="http://schemas.microsoft.com/office/drawing/2014/main" id="{248FAA6F-B9E7-FF4A-1627-23C44D44F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CRON</a:t>
            </a:r>
          </a:p>
        </p:txBody>
      </p:sp>
      <p:sp>
        <p:nvSpPr>
          <p:cNvPr id="77826" name="Content Placeholder 2">
            <a:extLst>
              <a:ext uri="{FF2B5EF4-FFF2-40B4-BE49-F238E27FC236}">
                <a16:creationId xmlns:a16="http://schemas.microsoft.com/office/drawing/2014/main" id="{361E09E5-C505-381C-ADDB-71C3C34615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1800"/>
              <a:t>Every day at 6 in the evening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0 18 * * *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After every 20 minutes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*0/20 * * * *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After every 4 hours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0 */4 * * *       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This will run every Saturday (6) and Sunday (7) at 5 pm (17).</a:t>
            </a:r>
            <a:endParaRPr lang="en-IN" altLang="en-US" sz="1800"/>
          </a:p>
          <a:p>
            <a:pPr lvl="1">
              <a:lnSpc>
                <a:spcPct val="150000"/>
              </a:lnSpc>
            </a:pPr>
            <a:r>
              <a:rPr lang="en-US" altLang="en-US" sz="1800"/>
              <a:t>0 17 * * 6,7</a:t>
            </a:r>
          </a:p>
          <a:p>
            <a:r>
              <a:rPr lang="en-US" altLang="en-US" sz="1800">
                <a:solidFill>
                  <a:srgbClr val="414141"/>
                </a:solidFill>
              </a:rPr>
              <a:t>To schedule your build every 5 minutes, this will do the job : </a:t>
            </a:r>
          </a:p>
          <a:p>
            <a:pPr lvl="1"/>
            <a:r>
              <a:rPr lang="en-US" altLang="en-US" sz="1800">
                <a:solidFill>
                  <a:srgbClr val="414141"/>
                </a:solidFill>
              </a:rPr>
              <a:t>*/5 * * * * </a:t>
            </a:r>
          </a:p>
          <a:p>
            <a:r>
              <a:rPr lang="en-US" altLang="en-US" sz="1800">
                <a:solidFill>
                  <a:srgbClr val="414141"/>
                </a:solidFill>
              </a:rPr>
              <a:t>To the job every 5min past every hour(5th Minute of every Hour) </a:t>
            </a:r>
          </a:p>
          <a:p>
            <a:pPr lvl="1"/>
            <a:r>
              <a:rPr lang="en-US" altLang="en-US" sz="1800">
                <a:solidFill>
                  <a:srgbClr val="414141"/>
                </a:solidFill>
              </a:rPr>
              <a:t>5 * * * *</a:t>
            </a:r>
          </a:p>
          <a:p>
            <a:pPr lvl="1">
              <a:lnSpc>
                <a:spcPct val="15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>
            <a:extLst>
              <a:ext uri="{FF2B5EF4-FFF2-40B4-BE49-F238E27FC236}">
                <a16:creationId xmlns:a16="http://schemas.microsoft.com/office/drawing/2014/main" id="{78555689-F3E7-1B3E-F6D8-2253F875D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Adding CRON</a:t>
            </a:r>
          </a:p>
        </p:txBody>
      </p:sp>
      <p:pic>
        <p:nvPicPr>
          <p:cNvPr id="78850" name="Picture 2" descr="Figure.12 Poll the SCM">
            <a:extLst>
              <a:ext uri="{FF2B5EF4-FFF2-40B4-BE49-F238E27FC236}">
                <a16:creationId xmlns:a16="http://schemas.microsoft.com/office/drawing/2014/main" id="{DA903858-CFE9-7C5A-D366-9EAA70A7D3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8153400" cy="5232400"/>
          </a:xfr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itle 1">
            <a:extLst>
              <a:ext uri="{FF2B5EF4-FFF2-40B4-BE49-F238E27FC236}">
                <a16:creationId xmlns:a16="http://schemas.microsoft.com/office/drawing/2014/main" id="{50956431-727F-D024-9506-42F970E39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Jenkins –GIT Maven Docker Build</a:t>
            </a:r>
          </a:p>
        </p:txBody>
      </p:sp>
      <p:pic>
        <p:nvPicPr>
          <p:cNvPr id="79874" name="Picture 6">
            <a:extLst>
              <a:ext uri="{FF2B5EF4-FFF2-40B4-BE49-F238E27FC236}">
                <a16:creationId xmlns:a16="http://schemas.microsoft.com/office/drawing/2014/main" id="{D3A312B3-52DE-B277-A1A5-6ED922E7D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066800"/>
            <a:ext cx="8348663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AEA0E4-AD2B-9BB5-8A12-1440F6A0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Jenkins pipeline</a:t>
            </a:r>
          </a:p>
        </p:txBody>
      </p:sp>
      <p:sp>
        <p:nvSpPr>
          <p:cNvPr id="84994" name="Text Placeholder 4">
            <a:extLst>
              <a:ext uri="{FF2B5EF4-FFF2-40B4-BE49-F238E27FC236}">
                <a16:creationId xmlns:a16="http://schemas.microsoft.com/office/drawing/2014/main" id="{32EB54A9-7FE5-9DFE-9BCD-DCC8B458E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>
            <a:extLst>
              <a:ext uri="{FF2B5EF4-FFF2-40B4-BE49-F238E27FC236}">
                <a16:creationId xmlns:a16="http://schemas.microsoft.com/office/drawing/2014/main" id="{7013194B-5B4A-B399-728D-58B617FB0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Jenkins Pipeline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86018" name="Content Placeholder 2">
            <a:extLst>
              <a:ext uri="{FF2B5EF4-FFF2-40B4-BE49-F238E27FC236}">
                <a16:creationId xmlns:a16="http://schemas.microsoft.com/office/drawing/2014/main" id="{6700B9BE-8738-8F8E-FADF-78B0F5CBC2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Pipeline is a series of interlinked events or jobs.</a:t>
            </a:r>
          </a:p>
          <a:p>
            <a:endParaRPr lang="en-US" altLang="en-US" sz="2000"/>
          </a:p>
          <a:p>
            <a:r>
              <a:rPr lang="en-US" altLang="en-US" sz="2000"/>
              <a:t>Its a combination of plugins that support the integration and implementation of continuous delivery pipelines </a:t>
            </a:r>
          </a:p>
          <a:p>
            <a:endParaRPr lang="en-US" altLang="en-US" sz="2000"/>
          </a:p>
          <a:p>
            <a:r>
              <a:rPr lang="en-US" altLang="en-US" sz="2000"/>
              <a:t>It contains a group of states called build, deploy, test and release. </a:t>
            </a:r>
          </a:p>
          <a:p>
            <a:pPr lvl="1"/>
            <a:r>
              <a:rPr lang="en-US" altLang="en-US" sz="2000"/>
              <a:t>Every state has its events, which work in a sequence called a continuous delivery pipeline.</a:t>
            </a:r>
          </a:p>
          <a:p>
            <a:endParaRPr lang="en-US" altLang="en-US" sz="2000"/>
          </a:p>
          <a:p>
            <a:r>
              <a:rPr lang="en-US" altLang="en-US" sz="2000"/>
              <a:t>Every job or event has some sort of dependency on at least one or more events.</a:t>
            </a:r>
          </a:p>
          <a:p>
            <a:pPr lvl="1"/>
            <a:r>
              <a:rPr lang="en-US" altLang="en-US" sz="2000"/>
              <a:t>These events are interlinked with each other. </a:t>
            </a:r>
          </a:p>
          <a:p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>
            <a:extLst>
              <a:ext uri="{FF2B5EF4-FFF2-40B4-BE49-F238E27FC236}">
                <a16:creationId xmlns:a16="http://schemas.microsoft.com/office/drawing/2014/main" id="{DD12E280-95B2-25D1-0BB9-C77071B54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Why Use Jenkins Pipeline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87042" name="Content Placeholder 2">
            <a:extLst>
              <a:ext uri="{FF2B5EF4-FFF2-40B4-BE49-F238E27FC236}">
                <a16:creationId xmlns:a16="http://schemas.microsoft.com/office/drawing/2014/main" id="{739934AE-1A21-80E6-87E1-73DB512C0D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Pipelines are robust.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Can run multiple jobs, and even use pipelines in a loop.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If server undergoes an unforeseen restart, the pipeline will be automatically resumed.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Can pause the pipeline process and make it wait to resume until there is an input from the user.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scripted pipeline is stored in Jenkins webUI as a Jenkins file.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end-to-end scripted pipeline script is written in Groovy.</a:t>
            </a:r>
          </a:p>
          <a:p>
            <a:pPr lvl="1"/>
            <a:endParaRPr lang="en-US" altLang="en-US" sz="2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>
            <a:extLst>
              <a:ext uri="{FF2B5EF4-FFF2-40B4-BE49-F238E27FC236}">
                <a16:creationId xmlns:a16="http://schemas.microsoft.com/office/drawing/2014/main" id="{07CC5119-C186-89F5-DC1F-E1A6502BC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Creating a Pipe Line</a:t>
            </a:r>
          </a:p>
        </p:txBody>
      </p:sp>
      <p:sp>
        <p:nvSpPr>
          <p:cNvPr id="88066" name="Content Placeholder 2">
            <a:extLst>
              <a:ext uri="{FF2B5EF4-FFF2-40B4-BE49-F238E27FC236}">
                <a16:creationId xmlns:a16="http://schemas.microsoft.com/office/drawing/2014/main" id="{B3AE4DB4-BA2D-2B5D-C93C-00E63CE464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From the Jenkins home select “New Item”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Give a name, select “Pipeline” and click ok.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Scroll down to the Pipeline section, enter the pipeline code in the script section and save it.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Click “Build Now” and wait for the build to start.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While the job starts Can view each stage executing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C54F-C2FD-E8FD-CAFB-F627D2BA7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>
            <a:extLst>
              <a:ext uri="{FF2B5EF4-FFF2-40B4-BE49-F238E27FC236}">
                <a16:creationId xmlns:a16="http://schemas.microsoft.com/office/drawing/2014/main" id="{A785FDD2-ABDA-4303-A2F7-D0DFBE16F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Pipe Line Script from SCM</a:t>
            </a:r>
          </a:p>
        </p:txBody>
      </p:sp>
      <p:sp>
        <p:nvSpPr>
          <p:cNvPr id="88066" name="Content Placeholder 2">
            <a:extLst>
              <a:ext uri="{FF2B5EF4-FFF2-40B4-BE49-F238E27FC236}">
                <a16:creationId xmlns:a16="http://schemas.microsoft.com/office/drawing/2014/main" id="{42427314-9903-7970-0DA9-9A22A5F58D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dirty="0"/>
              <a:t>From the Jenkins home select “New Item”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Give a name, select “Pipeline” and click ok.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Scroll down to the Pipeline section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In the pipeline section -&gt; Definition 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Choose Pipeline Script from SCM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Enter the Repository URL 	</a:t>
            </a:r>
            <a:r>
              <a:rPr lang="en-US" altLang="en-US" sz="2000" dirty="0">
                <a:hlinkClick r:id="rId2"/>
              </a:rPr>
              <a:t>https://github.com/vatsanTraining/training_jan_2026.git</a:t>
            </a:r>
            <a:endParaRPr lang="en-US" altLang="en-US" sz="2000" dirty="0"/>
          </a:p>
          <a:p>
            <a:pPr>
              <a:lnSpc>
                <a:spcPct val="150000"/>
              </a:lnSpc>
            </a:pPr>
            <a:r>
              <a:rPr lang="en-US" altLang="en-US" sz="2000" dirty="0"/>
              <a:t>In the script path entre the file name </a:t>
            </a:r>
            <a:r>
              <a:rPr lang="en-US" altLang="en-US" sz="2000" dirty="0" err="1"/>
              <a:t>Jenkinsfile</a:t>
            </a:r>
            <a:endParaRPr lang="en-US" altLang="en-US" sz="2000" dirty="0"/>
          </a:p>
          <a:p>
            <a:pPr>
              <a:lnSpc>
                <a:spcPct val="150000"/>
              </a:lnSpc>
            </a:pPr>
            <a:r>
              <a:rPr lang="en-US" altLang="en-US" sz="2000" dirty="0"/>
              <a:t>Click “Build Now” and wait for the build to start.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While the job starts Can view each stage executing </a:t>
            </a:r>
          </a:p>
        </p:txBody>
      </p:sp>
    </p:spTree>
    <p:extLst>
      <p:ext uri="{BB962C8B-B14F-4D97-AF65-F5344CB8AC3E}">
        <p14:creationId xmlns:p14="http://schemas.microsoft.com/office/powerpoint/2010/main" val="31614176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0F0C74C7-D900-65D6-D17A-8EFEB1D440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57175"/>
            <a:ext cx="8229600" cy="442913"/>
          </a:xfrm>
        </p:spPr>
        <p:txBody>
          <a:bodyPr/>
          <a:lstStyle/>
          <a:p>
            <a:r>
              <a:rPr lang="en-IN" altLang="en-US"/>
              <a:t>Pipe Line Block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6881F5F6-5CBE-F5CC-C35F-F4E1A699A6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1800" dirty="0"/>
              <a:t>Pipeline code should be wrapped inside the pipeline block.</a:t>
            </a:r>
          </a:p>
          <a:p>
            <a:pPr marL="457200" lvl="1" indent="0">
              <a:buFontTx/>
              <a:buNone/>
              <a:defRPr/>
            </a:pPr>
            <a:endParaRPr lang="en-US" altLang="en-US" sz="1400" dirty="0"/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pipeline {</a:t>
            </a:r>
          </a:p>
          <a:p>
            <a:pPr marL="457200" lvl="1" indent="0">
              <a:buFontTx/>
              <a:buNone/>
              <a:defRPr/>
            </a:pPr>
            <a:endParaRPr lang="en-US" altLang="en-US" sz="2000" dirty="0">
              <a:solidFill>
                <a:srgbClr val="C00000"/>
              </a:solidFill>
            </a:endParaRP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---&lt;All Pipeline blocks go here&gt;---</a:t>
            </a:r>
          </a:p>
          <a:p>
            <a:pPr marL="457200" lvl="1" indent="0">
              <a:buFontTx/>
              <a:buNone/>
              <a:defRPr/>
            </a:pPr>
            <a:endParaRPr lang="en-US" altLang="en-US" sz="2000" dirty="0">
              <a:solidFill>
                <a:srgbClr val="C00000"/>
              </a:solidFill>
            </a:endParaRP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}</a:t>
            </a:r>
          </a:p>
          <a:p>
            <a:pPr marL="457200" lvl="1" indent="0">
              <a:buFontTx/>
              <a:buNone/>
              <a:defRPr/>
            </a:pPr>
            <a:endParaRPr lang="en-US" altLang="en-US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altLang="en-US" sz="2000" b="1" dirty="0"/>
              <a:t>Tools Block</a:t>
            </a:r>
          </a:p>
          <a:p>
            <a:pPr lvl="1">
              <a:defRPr/>
            </a:pPr>
            <a:r>
              <a:rPr lang="en-US" altLang="en-US" sz="1600" dirty="0"/>
              <a:t>Can refer to the tools configured in the Jenkins Global tool configuration. </a:t>
            </a:r>
          </a:p>
          <a:p>
            <a:pPr marL="457200" lvl="1" indent="0">
              <a:buFontTx/>
              <a:buNone/>
              <a:defRPr/>
            </a:pPr>
            <a:endParaRPr lang="en-US" altLang="en-US" sz="2000" dirty="0"/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tools { 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        maven 'maven3' 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    }</a:t>
            </a:r>
          </a:p>
          <a:p>
            <a:pPr marL="457200" lvl="1" indent="0">
              <a:buFontTx/>
              <a:buNone/>
              <a:defRPr/>
            </a:pPr>
            <a:endParaRPr lang="en-US" altLang="en-US" sz="2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>
            <a:extLst>
              <a:ext uri="{FF2B5EF4-FFF2-40B4-BE49-F238E27FC236}">
                <a16:creationId xmlns:a16="http://schemas.microsoft.com/office/drawing/2014/main" id="{3ADEA2C8-99AC-BA46-D517-CBED5FED27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Pipe Line Block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6C0D8755-F8C3-A22E-47EB-F9C9074CE1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000" b="1" dirty="0"/>
              <a:t>Stages</a:t>
            </a:r>
            <a:r>
              <a:rPr lang="en-US" altLang="en-US" sz="2400" b="1" dirty="0"/>
              <a:t>: </a:t>
            </a:r>
          </a:p>
          <a:p>
            <a:pPr lvl="1">
              <a:defRPr/>
            </a:pPr>
            <a:r>
              <a:rPr lang="en-US" altLang="en-US" sz="2000" dirty="0"/>
              <a:t>Stages block contains multiple stages.</a:t>
            </a:r>
          </a:p>
          <a:p>
            <a:pPr marL="457200" lvl="1" indent="0">
              <a:buFontTx/>
              <a:buNone/>
              <a:defRPr/>
            </a:pPr>
            <a:endParaRPr lang="en-US" altLang="en-US" sz="2000" dirty="0"/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stages {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---&lt;All Pipeline Stages Go Here&gt;---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}</a:t>
            </a:r>
          </a:p>
          <a:p>
            <a:pPr>
              <a:defRPr/>
            </a:pPr>
            <a:r>
              <a:rPr lang="en-US" altLang="en-US" sz="2000" b="1" dirty="0">
                <a:solidFill>
                  <a:srgbClr val="0000FF"/>
                </a:solidFill>
              </a:rPr>
              <a:t>Stage Block:</a:t>
            </a:r>
          </a:p>
          <a:p>
            <a:pPr lvl="1">
              <a:defRPr/>
            </a:pPr>
            <a:r>
              <a:rPr lang="en-US" altLang="en-US" sz="2000" dirty="0"/>
              <a:t> A stage is a subset of stages. </a:t>
            </a:r>
          </a:p>
          <a:p>
            <a:pPr lvl="1">
              <a:defRPr/>
            </a:pPr>
            <a:r>
              <a:rPr lang="en-US" altLang="en-US" sz="2000" dirty="0"/>
              <a:t>Each stage has a steps block.</a:t>
            </a:r>
          </a:p>
          <a:p>
            <a:pPr>
              <a:defRPr/>
            </a:pPr>
            <a:endParaRPr lang="en-US" altLang="en-US" sz="2000" dirty="0"/>
          </a:p>
          <a:p>
            <a:pPr>
              <a:defRPr/>
            </a:pPr>
            <a:r>
              <a:rPr lang="en-US" altLang="en-US" sz="2000" b="1" dirty="0">
                <a:solidFill>
                  <a:srgbClr val="CC3300"/>
                </a:solidFill>
              </a:rPr>
              <a:t>Steps Block: </a:t>
            </a:r>
          </a:p>
          <a:p>
            <a:pPr lvl="1">
              <a:defRPr/>
            </a:pPr>
            <a:r>
              <a:rPr lang="en-US" altLang="en-US" sz="2000" dirty="0"/>
              <a:t>In each steps block can define a set of operations to perform. </a:t>
            </a:r>
          </a:p>
          <a:p>
            <a:pPr marL="457200" lvl="1" indent="0">
              <a:buFontTx/>
              <a:buNone/>
              <a:defRPr/>
            </a:pPr>
            <a:endParaRPr lang="en-IN" altLang="en-US" sz="2000" dirty="0"/>
          </a:p>
          <a:p>
            <a:pPr marL="457200" lvl="1" indent="0">
              <a:buFontTx/>
              <a:buNone/>
              <a:defRPr/>
            </a:pPr>
            <a:endParaRPr lang="en-US" altLang="en-US" sz="2000" dirty="0">
              <a:solidFill>
                <a:srgbClr val="C00000"/>
              </a:solidFill>
            </a:endParaRPr>
          </a:p>
          <a:p>
            <a:pPr marL="457200" lvl="1" indent="0">
              <a:buFontTx/>
              <a:buNone/>
              <a:defRPr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E33BD-E283-DAB0-CA1A-183D7C10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Jenkinsfile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46B8A-934C-3435-B841-FC3B2FF49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marL="457200" lvl="1" indent="0">
              <a:buNone/>
            </a:pPr>
            <a:r>
              <a:rPr lang="en-US" sz="1600" dirty="0"/>
              <a:t>pipeline {</a:t>
            </a:r>
          </a:p>
          <a:p>
            <a:pPr marL="457200" lvl="1" indent="0">
              <a:buNone/>
            </a:pPr>
            <a:r>
              <a:rPr lang="en-US" sz="1600" dirty="0"/>
              <a:t>    agent any</a:t>
            </a:r>
          </a:p>
          <a:p>
            <a:pPr marL="457200" lvl="1" indent="0">
              <a:buNone/>
            </a:pPr>
            <a:r>
              <a:rPr lang="en-US" sz="1600" dirty="0"/>
              <a:t>environment {</a:t>
            </a:r>
          </a:p>
          <a:p>
            <a:pPr marL="457200" lvl="1" indent="0">
              <a:buNone/>
            </a:pPr>
            <a:r>
              <a:rPr lang="en-US" sz="1600" dirty="0"/>
              <a:t>        DOCKER_PATH = '/</a:t>
            </a:r>
            <a:r>
              <a:rPr lang="en-US" sz="1600" dirty="0" err="1"/>
              <a:t>usr</a:t>
            </a:r>
            <a:r>
              <a:rPr lang="en-US" sz="1600" dirty="0"/>
              <a:t>/local/bin/docker'</a:t>
            </a:r>
          </a:p>
          <a:p>
            <a:pPr marL="457200" lvl="1" indent="0">
              <a:buNone/>
            </a:pPr>
            <a:r>
              <a:rPr lang="en-US" sz="1600" dirty="0"/>
              <a:t>        APP_NAME = 'my-boot-app'</a:t>
            </a:r>
          </a:p>
          <a:p>
            <a:pPr marL="457200" lvl="1" indent="0">
              <a:buNone/>
            </a:pPr>
            <a:r>
              <a:rPr lang="en-US" sz="1600" dirty="0"/>
              <a:t>    }</a:t>
            </a:r>
          </a:p>
          <a:p>
            <a:pPr marL="457200" lvl="1" indent="0">
              <a:buNone/>
            </a:pPr>
            <a:r>
              <a:rPr lang="en-US" sz="1600" dirty="0"/>
              <a:t>stages {</a:t>
            </a:r>
          </a:p>
          <a:p>
            <a:pPr marL="457200" lvl="1" indent="0">
              <a:buNone/>
            </a:pPr>
            <a:r>
              <a:rPr lang="en-US" sz="1600" dirty="0"/>
              <a:t>stage('Maven Build') {</a:t>
            </a:r>
          </a:p>
          <a:p>
            <a:pPr marL="457200" lvl="1" indent="0">
              <a:buNone/>
            </a:pPr>
            <a:r>
              <a:rPr lang="en-US" sz="1600" dirty="0"/>
              <a:t>            tools {</a:t>
            </a:r>
          </a:p>
          <a:p>
            <a:pPr marL="457200" lvl="1" indent="0">
              <a:buNone/>
            </a:pPr>
            <a:r>
              <a:rPr lang="en-US" sz="1600" dirty="0"/>
              <a:t>        maven 'M3_HOME' </a:t>
            </a:r>
          </a:p>
          <a:p>
            <a:pPr marL="457200" lvl="1" indent="0">
              <a:buNone/>
            </a:pPr>
            <a:r>
              <a:rPr lang="en-US" sz="1600" dirty="0"/>
              <a:t>    }</a:t>
            </a:r>
          </a:p>
          <a:p>
            <a:pPr marL="457200" lvl="1" indent="0">
              <a:buNone/>
            </a:pPr>
            <a:r>
              <a:rPr lang="en-US" sz="1600" dirty="0"/>
              <a:t>            steps {</a:t>
            </a:r>
          </a:p>
          <a:p>
            <a:pPr marL="457200" lvl="1" indent="0">
              <a:buNone/>
            </a:pPr>
            <a:r>
              <a:rPr lang="en-US" sz="1600" dirty="0"/>
              <a:t>                </a:t>
            </a:r>
            <a:r>
              <a:rPr lang="en-US" sz="1600" dirty="0" err="1"/>
              <a:t>dir</a:t>
            </a:r>
            <a:r>
              <a:rPr lang="en-US" sz="1600" dirty="0"/>
              <a:t>('</a:t>
            </a:r>
            <a:r>
              <a:rPr lang="en-US" sz="1600" dirty="0" err="1"/>
              <a:t>jenkins</a:t>
            </a:r>
            <a:r>
              <a:rPr lang="en-US" sz="1600" dirty="0"/>
              <a:t>-with-boot') {</a:t>
            </a:r>
          </a:p>
          <a:p>
            <a:pPr marL="457200" lvl="1" indent="0">
              <a:buNone/>
            </a:pPr>
            <a:r>
              <a:rPr lang="en-US" sz="1600" dirty="0"/>
              <a:t>                    </a:t>
            </a:r>
            <a:r>
              <a:rPr lang="en-US" sz="1600" dirty="0" err="1"/>
              <a:t>sh</a:t>
            </a:r>
            <a:r>
              <a:rPr lang="en-US" sz="1600" dirty="0"/>
              <a:t> '</a:t>
            </a:r>
            <a:r>
              <a:rPr lang="en-US" sz="1600" dirty="0" err="1"/>
              <a:t>mvn</a:t>
            </a:r>
            <a:r>
              <a:rPr lang="en-US" sz="1600" dirty="0"/>
              <a:t> clean install'</a:t>
            </a:r>
          </a:p>
          <a:p>
            <a:pPr marL="457200" lvl="1" indent="0">
              <a:buNone/>
            </a:pPr>
            <a:r>
              <a:rPr lang="en-US" sz="1600" dirty="0"/>
              <a:t>                }</a:t>
            </a:r>
          </a:p>
          <a:p>
            <a:pPr marL="457200" lvl="1" indent="0">
              <a:buNone/>
            </a:pPr>
            <a:r>
              <a:rPr lang="en-US" sz="1600" dirty="0"/>
              <a:t>            }</a:t>
            </a:r>
          </a:p>
          <a:p>
            <a:pPr marL="457200" lvl="1" indent="0">
              <a:buNone/>
            </a:pPr>
            <a:r>
              <a:rPr lang="en-US" sz="1600" dirty="0"/>
              <a:t>        }</a:t>
            </a:r>
          </a:p>
          <a:p>
            <a:pPr marL="400050" lvl="1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45777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2C8E-F5E2-A55D-700B-1224F49BF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Jenkinsfile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28099-2E35-F620-8AF9-3D5B70ECE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marL="457200" lvl="1" indent="0">
              <a:buNone/>
            </a:pPr>
            <a:r>
              <a:rPr lang="en-US" sz="1600" dirty="0"/>
              <a:t>stage('Docker Build') {</a:t>
            </a:r>
          </a:p>
          <a:p>
            <a:pPr marL="457200" lvl="1" indent="0">
              <a:buNone/>
            </a:pPr>
            <a:r>
              <a:rPr lang="en-US" sz="1600" dirty="0"/>
              <a:t>            steps {</a:t>
            </a:r>
          </a:p>
          <a:p>
            <a:pPr marL="457200" lvl="1" indent="0">
              <a:buNone/>
            </a:pPr>
            <a:r>
              <a:rPr lang="en-US" sz="1600" dirty="0"/>
              <a:t>                </a:t>
            </a:r>
            <a:r>
              <a:rPr lang="en-US" sz="1600" dirty="0" err="1"/>
              <a:t>dir</a:t>
            </a:r>
            <a:r>
              <a:rPr lang="en-US" sz="1600" dirty="0"/>
              <a:t>('</a:t>
            </a:r>
            <a:r>
              <a:rPr lang="en-US" sz="1600" dirty="0" err="1"/>
              <a:t>jenkins</a:t>
            </a:r>
            <a:r>
              <a:rPr lang="en-US" sz="1600" dirty="0"/>
              <a:t>-with-boot') {</a:t>
            </a:r>
          </a:p>
          <a:p>
            <a:pPr marL="457200" lvl="1" indent="0">
              <a:buNone/>
            </a:pPr>
            <a:r>
              <a:rPr lang="en-US" sz="1600" dirty="0"/>
              <a:t>                    script {</a:t>
            </a:r>
          </a:p>
          <a:p>
            <a:pPr marL="457200" lvl="1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sh</a:t>
            </a:r>
            <a:r>
              <a:rPr lang="en-US" sz="1600" dirty="0"/>
              <a:t> "export PATH=\$PATH:/</a:t>
            </a:r>
            <a:r>
              <a:rPr lang="en-US" sz="1600" dirty="0" err="1"/>
              <a:t>usr</a:t>
            </a:r>
            <a:r>
              <a:rPr lang="en-US" sz="1600" dirty="0"/>
              <a:t>/local/bin &amp;&amp; ${DOCKER_PATH} build -t ${APP_NAME}:${BUILD_NUMBER} -t ${APP_NAME}:latest ."</a:t>
            </a:r>
          </a:p>
          <a:p>
            <a:pPr marL="457200" lvl="1" indent="0">
              <a:buNone/>
            </a:pPr>
            <a:r>
              <a:rPr lang="en-US" sz="1600" dirty="0"/>
              <a:t>}</a:t>
            </a:r>
          </a:p>
          <a:p>
            <a:pPr marL="457200" lvl="1" indent="0">
              <a:buNone/>
            </a:pPr>
            <a:r>
              <a:rPr lang="en-US" sz="1600" dirty="0"/>
              <a:t>}</a:t>
            </a:r>
          </a:p>
          <a:p>
            <a:pPr marL="457200" lvl="1" indent="0">
              <a:buNone/>
            </a:pPr>
            <a:r>
              <a:rPr lang="en-US" sz="1600" dirty="0"/>
              <a:t>            }</a:t>
            </a:r>
          </a:p>
          <a:p>
            <a:pPr marL="457200" lvl="1" indent="0">
              <a:buNone/>
            </a:pPr>
            <a:r>
              <a:rPr lang="en-US" sz="1600" dirty="0"/>
              <a:t>        }</a:t>
            </a:r>
          </a:p>
          <a:p>
            <a:pPr marL="457200" lvl="1" indent="0">
              <a:buNone/>
            </a:pPr>
            <a:r>
              <a:rPr lang="en-US" sz="1600" dirty="0"/>
              <a:t>        stage('Deploy Local') {</a:t>
            </a:r>
          </a:p>
          <a:p>
            <a:pPr marL="457200" lvl="1" indent="0">
              <a:buNone/>
            </a:pPr>
            <a:r>
              <a:rPr lang="en-US" sz="1600" dirty="0"/>
              <a:t>            steps {</a:t>
            </a:r>
          </a:p>
          <a:p>
            <a:pPr marL="457200" lvl="1" indent="0">
              <a:buNone/>
            </a:pPr>
            <a:r>
              <a:rPr lang="en-US" sz="1600" dirty="0"/>
              <a:t>                script {</a:t>
            </a:r>
          </a:p>
          <a:p>
            <a:pPr marL="457200" lvl="1" indent="0">
              <a:buNone/>
            </a:pPr>
            <a:r>
              <a:rPr lang="en-US" sz="1600" dirty="0"/>
              <a:t>            echo "App is Built"</a:t>
            </a:r>
          </a:p>
          <a:p>
            <a:pPr marL="457200" lvl="1" indent="0">
              <a:buNone/>
            </a:pPr>
            <a:r>
              <a:rPr lang="en-US" sz="1600" dirty="0"/>
              <a:t>                }</a:t>
            </a:r>
          </a:p>
          <a:p>
            <a:pPr marL="457200" lvl="1" indent="0">
              <a:buNone/>
            </a:pPr>
            <a:r>
              <a:rPr lang="en-US" sz="1600" dirty="0"/>
              <a:t>            }</a:t>
            </a:r>
          </a:p>
          <a:p>
            <a:pPr marL="457200" lvl="1" indent="0">
              <a:buNone/>
            </a:pPr>
            <a:r>
              <a:rPr lang="en-US" sz="1600" dirty="0"/>
              <a:t>        }</a:t>
            </a:r>
          </a:p>
          <a:p>
            <a:pPr marL="457200" lvl="1" indent="0">
              <a:buNone/>
            </a:pPr>
            <a:r>
              <a:rPr lang="en-US" sz="1600" dirty="0"/>
              <a:t>    }</a:t>
            </a:r>
          </a:p>
          <a:p>
            <a:pPr marL="457200" lvl="1" indent="0">
              <a:buNone/>
            </a:pPr>
            <a:r>
              <a:rPr lang="en-US" sz="1600" dirty="0"/>
              <a:t>}</a:t>
            </a:r>
          </a:p>
          <a:p>
            <a:pPr marL="457200" lvl="1" indent="0">
              <a:buNone/>
            </a:pP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1047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>
            <a:extLst>
              <a:ext uri="{FF2B5EF4-FFF2-40B4-BE49-F238E27FC236}">
                <a16:creationId xmlns:a16="http://schemas.microsoft.com/office/drawing/2014/main" id="{744A8D48-F016-B392-4F1C-62964A6C26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Jenkins in Mac</a:t>
            </a:r>
          </a:p>
        </p:txBody>
      </p:sp>
      <p:sp>
        <p:nvSpPr>
          <p:cNvPr id="95234" name="Content Placeholder 2">
            <a:extLst>
              <a:ext uri="{FF2B5EF4-FFF2-40B4-BE49-F238E27FC236}">
                <a16:creationId xmlns:a16="http://schemas.microsoft.com/office/drawing/2014/main" id="{5B77E914-1EFD-088D-B31C-8F833F54C7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000" dirty="0">
                <a:solidFill>
                  <a:srgbClr val="666666"/>
                </a:solidFill>
              </a:rPr>
              <a:t>brew install </a:t>
            </a:r>
            <a:r>
              <a:rPr lang="en-IN" altLang="en-US" sz="2000" dirty="0" err="1">
                <a:solidFill>
                  <a:srgbClr val="666666"/>
                </a:solidFill>
              </a:rPr>
              <a:t>jenkins-lts</a:t>
            </a:r>
            <a:r>
              <a:rPr lang="en-IN" altLang="en-US" sz="2000" dirty="0">
                <a:solidFill>
                  <a:srgbClr val="666666"/>
                </a:solidFill>
              </a:rPr>
              <a:t> </a:t>
            </a:r>
          </a:p>
          <a:p>
            <a:r>
              <a:rPr lang="en-IN" altLang="en-US" sz="2000" dirty="0">
                <a:solidFill>
                  <a:srgbClr val="666666"/>
                </a:solidFill>
              </a:rPr>
              <a:t>brew services start </a:t>
            </a:r>
            <a:r>
              <a:rPr lang="en-IN" altLang="en-US" sz="2000" dirty="0" err="1">
                <a:solidFill>
                  <a:srgbClr val="666666"/>
                </a:solidFill>
              </a:rPr>
              <a:t>jenkins-lts</a:t>
            </a:r>
            <a:r>
              <a:rPr lang="en-IN" altLang="en-US" sz="2000" dirty="0">
                <a:solidFill>
                  <a:srgbClr val="666666"/>
                </a:solidFill>
              </a:rPr>
              <a:t> </a:t>
            </a:r>
          </a:p>
          <a:p>
            <a:r>
              <a:rPr lang="en-IN" altLang="en-US" sz="2000" dirty="0">
                <a:solidFill>
                  <a:srgbClr val="666666"/>
                </a:solidFill>
              </a:rPr>
              <a:t>cat /Users/administrator/.</a:t>
            </a:r>
            <a:r>
              <a:rPr lang="en-IN" altLang="en-US" sz="2000" dirty="0" err="1">
                <a:solidFill>
                  <a:srgbClr val="666666"/>
                </a:solidFill>
              </a:rPr>
              <a:t>jenkins</a:t>
            </a:r>
            <a:r>
              <a:rPr lang="en-IN" altLang="en-US" sz="2000" dirty="0">
                <a:solidFill>
                  <a:srgbClr val="666666"/>
                </a:solidFill>
              </a:rPr>
              <a:t>/secrets/</a:t>
            </a:r>
            <a:r>
              <a:rPr lang="en-IN" altLang="en-US" sz="2000" dirty="0" err="1">
                <a:solidFill>
                  <a:srgbClr val="666666"/>
                </a:solidFill>
              </a:rPr>
              <a:t>initialAdminPassword</a:t>
            </a:r>
            <a:r>
              <a:rPr lang="en-IN" altLang="en-US" sz="2000" dirty="0">
                <a:solidFill>
                  <a:srgbClr val="666666"/>
                </a:solidFill>
              </a:rPr>
              <a:t> </a:t>
            </a:r>
            <a:br>
              <a:rPr lang="en-IN" altLang="en-US" sz="2000" dirty="0"/>
            </a:br>
            <a:endParaRPr lang="en-IN" altLang="en-US" sz="1800" dirty="0"/>
          </a:p>
          <a:p>
            <a:r>
              <a:rPr lang="en-IN" altLang="en-US" sz="1800" dirty="0"/>
              <a:t>% /</a:t>
            </a:r>
            <a:r>
              <a:rPr lang="en-IN" altLang="en-US" sz="1800" dirty="0" err="1"/>
              <a:t>usr</a:t>
            </a:r>
            <a:r>
              <a:rPr lang="en-IN" altLang="en-US" sz="1800" dirty="0"/>
              <a:t>/</a:t>
            </a:r>
            <a:r>
              <a:rPr lang="en-IN" altLang="en-US" sz="1800" dirty="0" err="1"/>
              <a:t>libexec</a:t>
            </a:r>
            <a:r>
              <a:rPr lang="en-IN" altLang="en-US" sz="1800" dirty="0"/>
              <a:t>/</a:t>
            </a:r>
            <a:r>
              <a:rPr lang="en-IN" altLang="en-US" sz="1800" dirty="0" err="1"/>
              <a:t>java_home</a:t>
            </a:r>
            <a:r>
              <a:rPr lang="en-IN" altLang="en-US" sz="1800" dirty="0"/>
              <a:t> </a:t>
            </a:r>
          </a:p>
          <a:p>
            <a:endParaRPr lang="en-IN" altLang="en-US" sz="1800" dirty="0"/>
          </a:p>
          <a:p>
            <a:r>
              <a:rPr lang="en-IN" altLang="en-US" sz="1800" dirty="0" err="1"/>
              <a:t>Mvn</a:t>
            </a:r>
            <a:r>
              <a:rPr lang="en-IN" altLang="en-US" sz="1800" dirty="0"/>
              <a:t> –version should display the maven home </a:t>
            </a:r>
          </a:p>
          <a:p>
            <a:endParaRPr lang="en-IN" altLang="en-US" sz="1800" dirty="0"/>
          </a:p>
          <a:p>
            <a:r>
              <a:rPr lang="en-IN" altLang="en-US" sz="1800" dirty="0"/>
              <a:t>Configure the details in tools</a:t>
            </a:r>
          </a:p>
          <a:p>
            <a:endParaRPr lang="en-IN" altLang="en-US" sz="2000" dirty="0">
              <a:solidFill>
                <a:srgbClr val="000000"/>
              </a:solidFill>
            </a:endParaRPr>
          </a:p>
          <a:p>
            <a:r>
              <a:rPr lang="en-IN" altLang="en-US" sz="2000">
                <a:solidFill>
                  <a:srgbClr val="000000"/>
                </a:solidFill>
              </a:rPr>
              <a:t>brew </a:t>
            </a:r>
            <a:r>
              <a:rPr lang="en-IN" altLang="en-US" sz="2000" dirty="0">
                <a:solidFill>
                  <a:srgbClr val="000000"/>
                </a:solidFill>
              </a:rPr>
              <a:t>services start </a:t>
            </a:r>
            <a:r>
              <a:rPr lang="en-IN" altLang="en-US" sz="2000" dirty="0" err="1">
                <a:solidFill>
                  <a:srgbClr val="000000"/>
                </a:solidFill>
              </a:rPr>
              <a:t>jenkins-lts</a:t>
            </a:r>
            <a:endParaRPr lang="en-IN" altLang="en-US" sz="2000" dirty="0">
              <a:solidFill>
                <a:srgbClr val="000000"/>
              </a:solidFill>
            </a:endParaRPr>
          </a:p>
          <a:p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17299283"/>
      </p:ext>
    </p:extLst>
  </p:cSld>
  <p:clrMapOvr>
    <a:masterClrMapping/>
  </p:clrMapOvr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040</Template>
  <TotalTime>25919</TotalTime>
  <Words>2558</Words>
  <Application>Microsoft Macintosh PowerPoint</Application>
  <PresentationFormat>On-screen Show (4:3)</PresentationFormat>
  <Paragraphs>374</Paragraphs>
  <Slides>52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Times New Roman</vt:lpstr>
      <vt:lpstr>var(--ff-mono)</vt:lpstr>
      <vt:lpstr>vees</vt:lpstr>
      <vt:lpstr>PowerPoint Presentation</vt:lpstr>
      <vt:lpstr>Devops</vt:lpstr>
      <vt:lpstr>Need for DevOps</vt:lpstr>
      <vt:lpstr>Life Cycle</vt:lpstr>
      <vt:lpstr>Life Cycle</vt:lpstr>
      <vt:lpstr> Popular Tool for DevOps Automation  </vt:lpstr>
      <vt:lpstr>Continuous Integration</vt:lpstr>
      <vt:lpstr> Continuous Integration </vt:lpstr>
      <vt:lpstr>What is Continuous Integration...</vt:lpstr>
      <vt:lpstr>What is Continuous Integration</vt:lpstr>
      <vt:lpstr> Continuous Integration tools  </vt:lpstr>
      <vt:lpstr>Jenkins</vt:lpstr>
      <vt:lpstr> Advantages of using Jenkins </vt:lpstr>
      <vt:lpstr>Installing Jenkins</vt:lpstr>
      <vt:lpstr>Installing Jenkins</vt:lpstr>
      <vt:lpstr> Unlocking Jenkins </vt:lpstr>
      <vt:lpstr>Creating Admin User</vt:lpstr>
      <vt:lpstr>Customize Jenkins</vt:lpstr>
      <vt:lpstr>Customize Jenkins</vt:lpstr>
      <vt:lpstr>Instance Configurtion</vt:lpstr>
      <vt:lpstr>Jenkins Ready</vt:lpstr>
      <vt:lpstr>Jenkins Dash Board</vt:lpstr>
      <vt:lpstr>New Job</vt:lpstr>
      <vt:lpstr>Simple Project</vt:lpstr>
      <vt:lpstr>Building with Jenkins</vt:lpstr>
      <vt:lpstr>PowerPoint Presentation</vt:lpstr>
      <vt:lpstr> Jenkins Build Jobs </vt:lpstr>
      <vt:lpstr>Jenkins Plugins</vt:lpstr>
      <vt:lpstr>Working of  Jenkins</vt:lpstr>
      <vt:lpstr>Setting up Jenkins and Maven</vt:lpstr>
      <vt:lpstr>Build A Maven Project from GitHub</vt:lpstr>
      <vt:lpstr>Build A Project From GitHub</vt:lpstr>
      <vt:lpstr>Jenkins Build</vt:lpstr>
      <vt:lpstr>Build trigger</vt:lpstr>
      <vt:lpstr>Build Trigger</vt:lpstr>
      <vt:lpstr>List of Build Triggers</vt:lpstr>
      <vt:lpstr>Polling the SCM</vt:lpstr>
      <vt:lpstr>Build Triggers</vt:lpstr>
      <vt:lpstr>CRON </vt:lpstr>
      <vt:lpstr>CRON</vt:lpstr>
      <vt:lpstr>Adding CRON</vt:lpstr>
      <vt:lpstr>Jenkins –GIT Maven Docker Build</vt:lpstr>
      <vt:lpstr>Jenkins pipeline</vt:lpstr>
      <vt:lpstr> Jenkins Pipeline </vt:lpstr>
      <vt:lpstr> Why Use Jenkins Pipeline </vt:lpstr>
      <vt:lpstr>Creating a Pipe Line</vt:lpstr>
      <vt:lpstr>Pipe Line Script from SCM</vt:lpstr>
      <vt:lpstr>Pipe Line Block</vt:lpstr>
      <vt:lpstr>Pipe Line Block</vt:lpstr>
      <vt:lpstr>Jenkinsfile</vt:lpstr>
      <vt:lpstr>Jenkinsfile</vt:lpstr>
      <vt:lpstr>Jenkins in Mac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.</dc:creator>
  <cp:lastModifiedBy>Srivatsan Krishnamachari</cp:lastModifiedBy>
  <cp:revision>485</cp:revision>
  <dcterms:created xsi:type="dcterms:W3CDTF">2005-01-17T05:49:17Z</dcterms:created>
  <dcterms:modified xsi:type="dcterms:W3CDTF">2026-03-23T04:59:22Z</dcterms:modified>
</cp:coreProperties>
</file>