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sldIdLst>
    <p:sldId id="914" r:id="rId2"/>
    <p:sldId id="916" r:id="rId3"/>
    <p:sldId id="915" r:id="rId4"/>
    <p:sldId id="969" r:id="rId5"/>
    <p:sldId id="982" r:id="rId6"/>
    <p:sldId id="983" r:id="rId7"/>
    <p:sldId id="984" r:id="rId8"/>
    <p:sldId id="985" r:id="rId9"/>
    <p:sldId id="986" r:id="rId10"/>
    <p:sldId id="987" r:id="rId11"/>
    <p:sldId id="918" r:id="rId12"/>
    <p:sldId id="991" r:id="rId13"/>
    <p:sldId id="978" r:id="rId14"/>
    <p:sldId id="990" r:id="rId15"/>
    <p:sldId id="992" r:id="rId16"/>
    <p:sldId id="993" r:id="rId17"/>
    <p:sldId id="973" r:id="rId18"/>
    <p:sldId id="981" r:id="rId19"/>
    <p:sldId id="974" r:id="rId20"/>
    <p:sldId id="980" r:id="rId21"/>
    <p:sldId id="935" r:id="rId22"/>
    <p:sldId id="938" r:id="rId23"/>
    <p:sldId id="1026" r:id="rId24"/>
    <p:sldId id="997" r:id="rId25"/>
    <p:sldId id="1029" r:id="rId26"/>
    <p:sldId id="1043" r:id="rId27"/>
    <p:sldId id="1044" r:id="rId28"/>
    <p:sldId id="1005" r:id="rId29"/>
    <p:sldId id="1002" r:id="rId30"/>
    <p:sldId id="1003" r:id="rId31"/>
    <p:sldId id="1027" r:id="rId32"/>
    <p:sldId id="1004" r:id="rId33"/>
    <p:sldId id="1046" r:id="rId34"/>
    <p:sldId id="1030" r:id="rId35"/>
    <p:sldId id="1042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82" autoAdjust="0"/>
    <p:restoredTop sz="94660"/>
  </p:normalViewPr>
  <p:slideViewPr>
    <p:cSldViewPr>
      <p:cViewPr varScale="1">
        <p:scale>
          <a:sx n="113" d="100"/>
          <a:sy n="113" d="100"/>
        </p:scale>
        <p:origin x="1576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0008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67AD9F2B-E252-8F69-720A-E933172CF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2E721A0-111E-66DF-7AA5-62D194FD0C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E97473E-32A3-2E90-370B-5B3212522E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67CCB31C-1C24-F2E3-1AF4-B611090D3B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8D32412C-72E9-D603-9219-37B8BD4CF6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8B1EB549-5BE4-1FA0-9366-84ACAE048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01B6A51-76BD-A649-B62A-BFD9E25B7B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6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N" b="1" dirty="0"/>
              <a:t>n a Service:</a:t>
            </a:r>
          </a:p>
          <a:p>
            <a:pPr lvl="1"/>
            <a:r>
              <a:rPr lang="en-IN" b="1" dirty="0"/>
              <a:t>n a Pod:</a:t>
            </a:r>
            <a:r>
              <a:rPr lang="en-IN" dirty="0"/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025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36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41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21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46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1B6A51-76BD-A649-B62A-BFD9E25B7BF2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82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BDE124-09C9-2E56-D086-7B75BADD6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CE851D-3968-0AFD-0904-8EAD090EE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2F25FB-C8C1-2B89-0E8C-610B026E66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B2726-5B5F-7441-88C8-43A21B400A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92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F72116-5C02-7196-CAEE-1CDB87D3C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BF8D4-2856-02AB-A8AC-F7B632DF1F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D40945-6113-EF79-09BE-61B5CFA3F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B07A6-B1E0-9449-9B3D-3291FD2CA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98B54-9731-2820-43D5-042106A47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EB04AE-69B1-356D-1E7A-BA95C937FA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522109-634D-782B-E635-0B9C92A1A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6659A-357A-384C-8AFD-5B49A542B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3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877F3-4260-326A-20DA-C8A74126B4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489C6-1370-C343-ABE4-1E3D1206A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52F24F-1D5F-9F1A-F0FC-99339E22E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B7266-B821-C448-B667-7CEB05767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59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2E1AD75-958F-D5B0-E4C0-441EC3EA9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BDE893-145D-F955-CD46-E8B6B006E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6FF454-86E1-6D4D-CE4B-334EA04851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0B267-FD03-B748-99F3-AACBFA020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06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44EDDA-7197-78DA-9A14-EE742730E6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54D16B-F260-3698-5083-87F893C89D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AFF0A4-CFCB-924A-9E19-8BAEB149E8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E71E8-ABB9-D840-98AA-7AA2CCD81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0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8033C0D-C6AE-BD66-48A6-4A2477B3E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56557F-723B-48C8-A4E4-FF0DC64EF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E0DCCA-5F33-0BA9-3F24-3425BC483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614D2-B130-234D-B257-F3A4D5166D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59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5E406-DFB9-4BBD-E81B-A9884F24C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A9962-57A3-AC37-AD75-ADB8B21AB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0721CB-C87A-4D91-8952-78D4D5046E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64A34-3FA0-064E-8341-25CCE66213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2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F625A-CED8-7494-F03F-AE771693C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DE59D-C8AC-53B9-E773-663FB04EAA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45C8F-8231-E23D-8BEC-68639E5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C8D36-B444-2240-A03A-F41B4733D1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79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B3B442-9073-F382-6C4B-D7BBB23E0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4F4CE2-B980-4B27-48F1-62C2C9DDC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0F1A18-DAEB-2FEB-4298-F80DA186C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FDE3D-2A35-F64D-920D-BBD087553B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3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0C1887-EFA5-F904-B798-5E493D07A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1AFC19-E1EB-4F5A-6BEB-CFD380650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AB8C86-3024-1810-5C47-A25ACB2795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605C3-AD85-C147-9585-9D84B6B2F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23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20FA30-7071-8A00-13CD-2458C5B3E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5F5F0A-878A-E934-6A6D-4B6BBC659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988" name="Rectangle 4">
            <a:extLst>
              <a:ext uri="{FF2B5EF4-FFF2-40B4-BE49-F238E27FC236}">
                <a16:creationId xmlns:a16="http://schemas.microsoft.com/office/drawing/2014/main" id="{28659AA1-0B64-0337-11A8-2288586296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89" name="Rectangle 5">
            <a:extLst>
              <a:ext uri="{FF2B5EF4-FFF2-40B4-BE49-F238E27FC236}">
                <a16:creationId xmlns:a16="http://schemas.microsoft.com/office/drawing/2014/main" id="{9D3D6FB6-9739-ED2E-3AD7-7150902C58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990" name="Rectangle 6">
            <a:extLst>
              <a:ext uri="{FF2B5EF4-FFF2-40B4-BE49-F238E27FC236}">
                <a16:creationId xmlns:a16="http://schemas.microsoft.com/office/drawing/2014/main" id="{9CDEAA8C-E6CC-07C2-CE99-94543C8F2F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DCBEAB2-71A1-994C-B7C7-777112B1CE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A53DBB-643E-A6B0-87FB-E9DC493C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>
                <a:solidFill>
                  <a:srgbClr val="2C3E50"/>
                </a:solidFill>
                <a:latin typeface="Helvetica" panose="020B0604020202020204" pitchFamily="34" charset="0"/>
              </a:rPr>
              <a:t>Kubernetes</a:t>
            </a:r>
          </a:p>
        </p:txBody>
      </p:sp>
      <p:sp>
        <p:nvSpPr>
          <p:cNvPr id="14338" name="Text Placeholder 4">
            <a:extLst>
              <a:ext uri="{FF2B5EF4-FFF2-40B4-BE49-F238E27FC236}">
                <a16:creationId xmlns:a16="http://schemas.microsoft.com/office/drawing/2014/main" id="{E1637DFE-260C-5C70-A010-7C1A9E079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33967E20-51A3-CB5C-D9EB-5FA306A4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Kubernetes</a:t>
            </a:r>
            <a:endParaRPr lang="en-IN" altLang="en-US"/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D38E36A6-3658-47F9-6808-2C1C441B5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i="1">
                <a:solidFill>
                  <a:srgbClr val="222222"/>
                </a:solidFill>
                <a:latin typeface="open sans" panose="020B0606030504020204" pitchFamily="34" charset="0"/>
              </a:rPr>
              <a:t>An open-source system for automating deployment, scaling, and management of containerized applications.</a:t>
            </a:r>
          </a:p>
          <a:p>
            <a:pPr>
              <a:lnSpc>
                <a:spcPct val="150000"/>
              </a:lnSpc>
            </a:pPr>
            <a:endParaRPr lang="en-US" altLang="en-US" sz="2000">
              <a:solidFill>
                <a:srgbClr val="2C3E50"/>
              </a:solidFill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 It's Greek for </a:t>
            </a:r>
            <a:r>
              <a:rPr lang="en-US" altLang="en-US" sz="2000" b="1">
                <a:solidFill>
                  <a:srgbClr val="2C3E50"/>
                </a:solidFill>
                <a:latin typeface="Helvetica" pitchFamily="2" charset="0"/>
              </a:rPr>
              <a:t>Helmsman</a:t>
            </a:r>
            <a:r>
              <a:rPr lang="en-US" altLang="en-US" sz="2000">
                <a:solidFill>
                  <a:srgbClr val="2C3E50"/>
                </a:solidFill>
                <a:latin typeface="Helvetica" pitchFamily="2" charset="0"/>
              </a:rPr>
              <a:t>, the person who steers the ship.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 lvl="1"/>
            <a:r>
              <a:rPr lang="en-US" altLang="en-US" sz="2000"/>
              <a:t>It is written in Go-language and Released by 2015 </a:t>
            </a:r>
          </a:p>
          <a:p>
            <a:endParaRPr lang="en-US" altLang="en-US" sz="2000">
              <a:solidFill>
                <a:srgbClr val="2C3E50"/>
              </a:solidFill>
            </a:endParaRPr>
          </a:p>
          <a:p>
            <a:r>
              <a:rPr lang="en-US" altLang="en-US" sz="2000">
                <a:solidFill>
                  <a:srgbClr val="2C3E50"/>
                </a:solidFill>
              </a:rPr>
              <a:t>Also called </a:t>
            </a:r>
            <a:r>
              <a:rPr lang="en-US" altLang="en-US" sz="2000" b="1">
                <a:solidFill>
                  <a:srgbClr val="2C3E50"/>
                </a:solidFill>
              </a:rPr>
              <a:t>K8s</a:t>
            </a:r>
            <a:r>
              <a:rPr lang="en-US" altLang="en-US" sz="2000">
                <a:solidFill>
                  <a:srgbClr val="2C3E50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C3E50"/>
                </a:solidFill>
              </a:rPr>
              <a:t>K </a:t>
            </a:r>
            <a:r>
              <a:rPr lang="en-US" altLang="en-US" sz="2000">
                <a:solidFill>
                  <a:srgbClr val="2C3E50"/>
                </a:solidFill>
              </a:rPr>
              <a:t>ubernete </a:t>
            </a:r>
            <a:r>
              <a:rPr lang="en-US" altLang="en-US" sz="2000" b="1">
                <a:solidFill>
                  <a:srgbClr val="2C3E50"/>
                </a:solidFill>
              </a:rPr>
              <a:t>s</a:t>
            </a:r>
            <a:r>
              <a:rPr lang="en-US" altLang="en-US" sz="2000">
                <a:solidFill>
                  <a:srgbClr val="2C3E50"/>
                </a:solidFill>
              </a:rPr>
              <a:t>, 8 characters in the middle are removed.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7885D80A-8847-D664-9AB3-7007969FC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524000"/>
            <a:ext cx="2209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3">
            <a:extLst>
              <a:ext uri="{FF2B5EF4-FFF2-40B4-BE49-F238E27FC236}">
                <a16:creationId xmlns:a16="http://schemas.microsoft.com/office/drawing/2014/main" id="{C1C383CA-2E27-26A8-9EDE-58B575486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/>
            </a:br>
            <a:r>
              <a:rPr lang="en-IN" altLang="en-US"/>
              <a:t>Orchestration</a:t>
            </a:r>
            <a:br>
              <a:rPr lang="en-IN" altLang="en-US"/>
            </a:br>
            <a:endParaRPr lang="en-IN" altLang="en-US"/>
          </a:p>
        </p:txBody>
      </p:sp>
      <p:sp>
        <p:nvSpPr>
          <p:cNvPr id="16386" name="Content Placeholder 4">
            <a:extLst>
              <a:ext uri="{FF2B5EF4-FFF2-40B4-BE49-F238E27FC236}">
                <a16:creationId xmlns:a16="http://schemas.microsoft.com/office/drawing/2014/main" id="{CBA99653-2048-8CA6-65A2-6ECFC2B4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Containers can create repeatable environments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Dev, staging, and prod all looked and functioned the same way.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They are light-weight ,drew resources from the host operating system. </a:t>
            </a:r>
          </a:p>
          <a:p>
            <a:endParaRPr lang="en-US" altLang="en-US" sz="2000"/>
          </a:p>
          <a:p>
            <a:r>
              <a:rPr lang="en-US" altLang="en-US" sz="2000"/>
              <a:t>Larger systems might consist many containers </a:t>
            </a:r>
          </a:p>
          <a:p>
            <a:pPr lvl="1"/>
            <a:r>
              <a:rPr lang="en-US" altLang="en-US" sz="2000"/>
              <a:t>Managing, scheduling , load balancing and  distribution are a challenge to look into</a:t>
            </a:r>
          </a:p>
          <a:p>
            <a:endParaRPr lang="en-US" altLang="en-US" sz="2000"/>
          </a:p>
          <a:p>
            <a:r>
              <a:rPr lang="en-US" altLang="en-US" sz="2000" b="1" i="1">
                <a:solidFill>
                  <a:srgbClr val="FF0000"/>
                </a:solidFill>
              </a:rPr>
              <a:t>Kubernetes  </a:t>
            </a:r>
            <a:r>
              <a:rPr lang="en-US" altLang="en-US" sz="2000"/>
              <a:t>does the</a:t>
            </a:r>
            <a:r>
              <a:rPr lang="en-US" altLang="en-US" sz="2000" b="1" i="1">
                <a:solidFill>
                  <a:srgbClr val="FF0000"/>
                </a:solidFill>
              </a:rPr>
              <a:t> </a:t>
            </a:r>
            <a:r>
              <a:rPr lang="en-US" altLang="en-US" sz="2000" b="1">
                <a:solidFill>
                  <a:srgbClr val="7030A0"/>
                </a:solidFill>
              </a:rPr>
              <a:t>Orchestration</a:t>
            </a:r>
            <a:r>
              <a:rPr lang="en-US" altLang="en-US" sz="2000"/>
              <a:t> of all  the container instances. 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95340BF-007F-0226-54B5-2A2F3773B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K8</a:t>
            </a:r>
            <a:endParaRPr lang="en-IN" altLang="en-US"/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3840A6DA-1E84-51CF-3004-83C3A818F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Developers expect to deploy new versions of applications several times a day.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Containerization helps package software enabling applications to be released and updated without downtime.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Kubernetes helps to  make sure the  containerized applications run and helps them find the resources and tools they need to work. </a:t>
            </a:r>
          </a:p>
          <a:p>
            <a:pPr>
              <a:lnSpc>
                <a:spcPct val="15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Used by many companies  including Google, </a:t>
            </a:r>
            <a:r>
              <a:rPr lang="en-US" altLang="en-US" sz="2000" u="sng">
                <a:solidFill>
                  <a:srgbClr val="292929"/>
                </a:solidFill>
              </a:rPr>
              <a:t>Amazon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E8E16CA-2D49-16F5-D67C-8755C0C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0FBB69D1-94B9-059C-8638-AE09D4051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Works with a  cluster of computers that are connected to work as a single unit. </a:t>
            </a:r>
          </a:p>
          <a:p>
            <a:pPr lvl="1"/>
            <a:r>
              <a:rPr lang="en-US" altLang="en-US" sz="2000"/>
              <a:t>Helps to  deploy containerized applications to a cluster without tying them specifically to individual machines. </a:t>
            </a:r>
          </a:p>
          <a:p>
            <a:endParaRPr lang="en-US" altLang="en-US" sz="2000"/>
          </a:p>
          <a:p>
            <a:r>
              <a:rPr lang="en-US" altLang="en-US" sz="2000"/>
              <a:t>The applications needs to be containerized. </a:t>
            </a:r>
          </a:p>
          <a:p>
            <a:pPr lvl="1"/>
            <a:r>
              <a:rPr lang="en-US" altLang="en-US" sz="2000"/>
              <a:t>Hence its decoupled from individual hosts </a:t>
            </a:r>
          </a:p>
          <a:p>
            <a:endParaRPr lang="en-US" altLang="en-US" sz="2000"/>
          </a:p>
          <a:p>
            <a:r>
              <a:rPr lang="en-US" altLang="en-US" sz="2000"/>
              <a:t>Kubernetes automates the distribution and scheduling of application containers across a cluster in a more efficient way. </a:t>
            </a:r>
          </a:p>
          <a:p>
            <a:endParaRPr lang="en-US" altLang="en-US" sz="120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altLang="en-US" sz="2000">
                <a:solidFill>
                  <a:srgbClr val="222222"/>
                </a:solidFill>
              </a:rPr>
              <a:t>A Kubernetes cluster consists of two types of resources: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222222"/>
                </a:solidFill>
              </a:rPr>
              <a:t>The </a:t>
            </a:r>
            <a:r>
              <a:rPr lang="en-US" altLang="en-US" sz="2000" b="1">
                <a:solidFill>
                  <a:srgbClr val="222222"/>
                </a:solidFill>
              </a:rPr>
              <a:t>Control Plane</a:t>
            </a:r>
            <a:r>
              <a:rPr lang="en-US" altLang="en-US" sz="2000">
                <a:solidFill>
                  <a:srgbClr val="222222"/>
                </a:solidFill>
              </a:rPr>
              <a:t> coordinates the cluster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rgbClr val="222222"/>
                </a:solidFill>
              </a:rPr>
              <a:t>Nodes</a:t>
            </a:r>
            <a:r>
              <a:rPr lang="en-US" altLang="en-US" sz="2000">
                <a:solidFill>
                  <a:srgbClr val="222222"/>
                </a:solidFill>
              </a:rPr>
              <a:t> are the workers that run applications</a:t>
            </a:r>
          </a:p>
          <a:p>
            <a:br>
              <a:rPr lang="en-US" altLang="en-US" sz="1200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EC8B294-26FA-407E-3918-B6963B7AE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44291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pic>
        <p:nvPicPr>
          <p:cNvPr id="19458" name="Content Placeholder 4">
            <a:extLst>
              <a:ext uri="{FF2B5EF4-FFF2-40B4-BE49-F238E27FC236}">
                <a16:creationId xmlns:a16="http://schemas.microsoft.com/office/drawing/2014/main" id="{27F5ECFF-7D5B-A403-DD99-AC195837F0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216025"/>
            <a:ext cx="5638800" cy="417671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B4FAB7FB-8A3D-372F-8B4A-A83445514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55588"/>
            <a:ext cx="8229600" cy="487362"/>
          </a:xfrm>
        </p:spPr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6E5E9C3C-3695-AE60-2E0C-0228A020C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Control Plane 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Responsible for managing the cluster and Nodes</a:t>
            </a:r>
          </a:p>
          <a:p>
            <a:pPr lvl="1">
              <a:lnSpc>
                <a:spcPct val="150000"/>
              </a:lnSpc>
            </a:pPr>
            <a:r>
              <a:rPr lang="en-US" altLang="en-US" sz="1800">
                <a:solidFill>
                  <a:srgbClr val="222222"/>
                </a:solidFill>
              </a:rPr>
              <a:t>Coordinates scheduling applications, maintaining applications' desired state, scaling applications, and rolling out new updates.</a:t>
            </a:r>
          </a:p>
          <a:p>
            <a:r>
              <a:rPr lang="en-US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Node </a:t>
            </a:r>
          </a:p>
          <a:p>
            <a:pPr lvl="1">
              <a:lnSpc>
                <a:spcPct val="150000"/>
              </a:lnSpc>
            </a:pPr>
            <a:r>
              <a:rPr lang="en-US" altLang="en-US" sz="2000" b="1">
                <a:solidFill>
                  <a:srgbClr val="222222"/>
                </a:solidFill>
              </a:rPr>
              <a:t>Its VM or a physical computer that serves as a worker machine in a Kubernetes cluster.</a:t>
            </a:r>
            <a:r>
              <a:rPr lang="en-US" altLang="en-US" sz="2000">
                <a:solidFill>
                  <a:srgbClr val="222222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Each node has a Kubelet, which is an agent for managing the node and communicating with the Kubernetes control plane. </a:t>
            </a:r>
          </a:p>
          <a:p>
            <a:pPr lvl="1">
              <a:lnSpc>
                <a:spcPct val="150000"/>
              </a:lnSpc>
            </a:pPr>
            <a:r>
              <a:rPr lang="en-US" altLang="en-US" sz="2000">
                <a:solidFill>
                  <a:srgbClr val="222222"/>
                </a:solidFill>
              </a:rPr>
              <a:t>The node has tools for handling container operations, such as Docker.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5FA98C22-E837-6DA4-1C48-104676F51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Clusters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837E6FEC-66CC-B3BE-2520-16420E33E7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A Kubernetes cluster can be deployed on either physical or virtual machines.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The following command is used to get cluster information</a:t>
            </a:r>
          </a:p>
          <a:p>
            <a:endParaRPr lang="en-US" altLang="en-US" sz="2000" dirty="0"/>
          </a:p>
          <a:p>
            <a:r>
              <a:rPr lang="en-US" altLang="en-US" sz="2000" dirty="0" err="1"/>
              <a:t>kubectl</a:t>
            </a:r>
            <a:r>
              <a:rPr lang="en-US" altLang="en-US" sz="2000" dirty="0"/>
              <a:t> cluster-info</a:t>
            </a:r>
          </a:p>
          <a:p>
            <a:endParaRPr lang="en-US" altLang="en-US" sz="2000" dirty="0"/>
          </a:p>
          <a:p>
            <a:r>
              <a:rPr lang="en-US" altLang="en-US" sz="2000" dirty="0" err="1"/>
              <a:t>kubectl</a:t>
            </a:r>
            <a:r>
              <a:rPr lang="en-US" altLang="en-US" sz="2000" dirty="0"/>
              <a:t> get nodes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IN" altLang="en-US" sz="20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D186D728-5428-0EB7-601E-C2CFCC819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Kubernetes Deployments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br>
              <a:rPr lang="en-IN" altLang="en-US"/>
            </a:br>
            <a:endParaRPr lang="en-IN" alt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14815E68-48C0-1D89-726C-A898D66924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Containerized Applications can be deployed on  a running Kubernetes cluster</a:t>
            </a:r>
          </a:p>
          <a:p>
            <a:pPr lvl="1"/>
            <a:r>
              <a:rPr lang="en-US" altLang="en-US" sz="2000"/>
              <a:t>The Deployment instructs Kubernetes how to create and update instances of  application. </a:t>
            </a:r>
          </a:p>
          <a:p>
            <a:pPr lvl="1"/>
            <a:r>
              <a:rPr lang="en-US" altLang="en-US" sz="2000"/>
              <a:t>Deployment Controller continuously monitors those instances. </a:t>
            </a:r>
          </a:p>
          <a:p>
            <a:endParaRPr lang="en-US" altLang="en-US" sz="2000"/>
          </a:p>
          <a:p>
            <a:r>
              <a:rPr lang="en-US" altLang="en-US" sz="2000" b="1"/>
              <a:t>Self Healing </a:t>
            </a:r>
          </a:p>
          <a:p>
            <a:pPr lvl="1"/>
            <a:r>
              <a:rPr lang="en-US" altLang="en-US" sz="2000"/>
              <a:t>If the Node hosting an instance goes down or is deleted, the Deployment controller replaces the instance with an instance on another Node in the cluster. </a:t>
            </a:r>
          </a:p>
          <a:p>
            <a:endParaRPr lang="en-US" altLang="en-US" sz="200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3874016E-F1D9-0C66-B0AC-40F5C7ABD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Deploying Application</a:t>
            </a:r>
            <a:endParaRPr lang="en-IN" altLang="en-US"/>
          </a:p>
        </p:txBody>
      </p:sp>
      <p:pic>
        <p:nvPicPr>
          <p:cNvPr id="23554" name="Content Placeholder 4">
            <a:extLst>
              <a:ext uri="{FF2B5EF4-FFF2-40B4-BE49-F238E27FC236}">
                <a16:creationId xmlns:a16="http://schemas.microsoft.com/office/drawing/2014/main" id="{4A1851CF-BCA5-D1CA-8D63-1AE9EA792A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838200"/>
            <a:ext cx="6705600" cy="4545013"/>
          </a:xfr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3D560232-0A9B-DD63-C4FD-314F9B0E0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r>
              <a:rPr lang="en-IN" altLang="en-US" b="1">
                <a:solidFill>
                  <a:srgbClr val="2C3E50"/>
                </a:solidFill>
                <a:latin typeface="Helvetica" pitchFamily="2" charset="0"/>
              </a:rPr>
              <a:t>kubectl</a:t>
            </a:r>
            <a:br>
              <a:rPr lang="en-IN" altLang="en-US" b="1">
                <a:solidFill>
                  <a:srgbClr val="2C3E50"/>
                </a:solidFill>
                <a:latin typeface="Helvetica" pitchFamily="2" charset="0"/>
              </a:rPr>
            </a:br>
            <a:endParaRPr lang="en-IN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FEA3F22B-1435-004B-9308-CF667A7A42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 command line program to interact with Clusters</a:t>
            </a:r>
          </a:p>
          <a:p>
            <a:pPr lvl="1"/>
            <a:endParaRPr lang="en-US" altLang="en-US" sz="2000"/>
          </a:p>
          <a:p>
            <a:pPr lvl="1"/>
            <a:r>
              <a:rPr lang="en-US" altLang="en-US" sz="2000"/>
              <a:t>Also used to deploy and manage applications on Clusters.</a:t>
            </a:r>
          </a:p>
          <a:p>
            <a:endParaRPr lang="en-US" altLang="en-US" sz="2000"/>
          </a:p>
          <a:p>
            <a:r>
              <a:rPr lang="en-US" altLang="en-US" sz="2000"/>
              <a:t>Check installation of kubectl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pPr lvl="1"/>
            <a:r>
              <a:rPr lang="en-US" altLang="en-US" sz="2000" b="1">
                <a:solidFill>
                  <a:srgbClr val="FF0000"/>
                </a:solidFill>
              </a:rPr>
              <a:t>kubectl version</a:t>
            </a:r>
          </a:p>
          <a:p>
            <a:pPr lvl="1"/>
            <a:endParaRPr lang="en-US" altLang="en-US" sz="2000" b="1">
              <a:solidFill>
                <a:srgbClr val="FF0000"/>
              </a:solidFill>
            </a:endParaRPr>
          </a:p>
          <a:p>
            <a:endParaRPr lang="en-US" altLang="en-US" sz="2000"/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52008247-6F34-E738-CDA6-D4CA131F9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/>
            </a:br>
            <a:r>
              <a:rPr lang="en-US" altLang="en-US"/>
              <a:t>Kubernetes Pods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E0C35CE5-B5F7-0772-8D19-0E553D1BE3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Pod represents a group of one or more application containers </a:t>
            </a:r>
          </a:p>
          <a:p>
            <a:pPr lvl="1"/>
            <a:r>
              <a:rPr lang="en-US" altLang="en-US" sz="2000" dirty="0"/>
              <a:t>Example : Docker</a:t>
            </a:r>
          </a:p>
          <a:p>
            <a:pPr lvl="1"/>
            <a:r>
              <a:rPr lang="en-US" altLang="en-US" sz="2000" dirty="0"/>
              <a:t>It also has some shared resources for those containers.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Share Resource are : </a:t>
            </a:r>
          </a:p>
          <a:p>
            <a:pPr lvl="1"/>
            <a:r>
              <a:rPr lang="en-US" altLang="en-US" sz="2000" dirty="0"/>
              <a:t>Shared storage, as Volumes</a:t>
            </a:r>
          </a:p>
          <a:p>
            <a:pPr lvl="1"/>
            <a:r>
              <a:rPr lang="en-US" altLang="en-US" sz="2000" dirty="0"/>
              <a:t>Networking, as a unique cluster IP address</a:t>
            </a:r>
          </a:p>
          <a:p>
            <a:pPr lvl="1"/>
            <a:r>
              <a:rPr lang="en-US" altLang="en-US" sz="2000" dirty="0"/>
              <a:t>Information about how to run each container, such as the container image version or specific ports to use</a:t>
            </a:r>
          </a:p>
          <a:p>
            <a:pPr lvl="1"/>
            <a:r>
              <a:rPr lang="en-US" altLang="en-US" sz="2000" dirty="0"/>
              <a:t>In case of a Node failure, identical Pods are scheduled on other available Nodes in the cluster.</a:t>
            </a:r>
          </a:p>
          <a:p>
            <a:pPr lvl="1"/>
            <a:endParaRPr lang="en-US" altLang="en-US" sz="2000" dirty="0"/>
          </a:p>
          <a:p>
            <a:endParaRPr lang="en-US" altLang="en-US" sz="2000" dirty="0"/>
          </a:p>
          <a:p>
            <a:endParaRPr lang="en-IN" altLang="en-US" sz="2000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8C87CAE-739E-D8A9-8C69-5142B8F0E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4CCA8160-5F08-873F-5393-CB0A2EA0E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 pod’s life-cycle has 3 stages:</a:t>
            </a:r>
          </a:p>
          <a:p>
            <a:endParaRPr lang="en-US" altLang="en-US" sz="2000"/>
          </a:p>
          <a:p>
            <a:r>
              <a:rPr lang="en-US" altLang="en-US" sz="2000"/>
              <a:t>Pending → Running → Succeeded/Failed</a:t>
            </a:r>
          </a:p>
          <a:p>
            <a:endParaRPr lang="en-US" altLang="en-US" sz="2000"/>
          </a:p>
          <a:p>
            <a:r>
              <a:rPr lang="en-US" altLang="en-US" sz="2000"/>
              <a:t>If a Pod died without completing his task, a new Pod will be created to replace the dead Pod. </a:t>
            </a:r>
          </a:p>
          <a:p>
            <a:endParaRPr lang="en-US" altLang="en-US" sz="2000"/>
          </a:p>
          <a:p>
            <a:r>
              <a:rPr lang="en-US" altLang="en-US" sz="2000"/>
              <a:t>The new pod’s IP and all other factors will be different from old one </a:t>
            </a:r>
          </a:p>
          <a:p>
            <a:endParaRPr lang="en-IN" altLang="en-US" sz="2000"/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7FB958DE-9231-2531-0B82-0A4530740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Pods</a:t>
            </a:r>
            <a:endParaRPr lang="en-IN" altLang="en-US"/>
          </a:p>
        </p:txBody>
      </p:sp>
      <p:pic>
        <p:nvPicPr>
          <p:cNvPr id="31746" name="Content Placeholder 4">
            <a:extLst>
              <a:ext uri="{FF2B5EF4-FFF2-40B4-BE49-F238E27FC236}">
                <a16:creationId xmlns:a16="http://schemas.microsoft.com/office/drawing/2014/main" id="{917DDB1A-E6AD-793B-5F95-2F1CD069EF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524000"/>
            <a:ext cx="7391400" cy="3810000"/>
          </a:xfr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1222932-8924-61B7-198C-C2F46DEBA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Nodes</a:t>
            </a:r>
            <a:endParaRPr lang="en-IN" alt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E1C777D0-34BA-F607-07E9-CDE0604C74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2000"/>
              <a:t>Node </a:t>
            </a:r>
          </a:p>
          <a:p>
            <a:pPr lvl="1"/>
            <a:r>
              <a:rPr lang="en-US" altLang="en-US" sz="2000"/>
              <a:t>Worker machine may be either a virtual or a physical machine</a:t>
            </a:r>
          </a:p>
          <a:p>
            <a:pPr lvl="1"/>
            <a:r>
              <a:rPr lang="en-US" altLang="en-US" sz="2000"/>
              <a:t>A Pod always runs on a Node</a:t>
            </a:r>
          </a:p>
          <a:p>
            <a:pPr lvl="1"/>
            <a:r>
              <a:rPr lang="en-US" altLang="en-US" sz="2000"/>
              <a:t>Node can have multiple pods</a:t>
            </a:r>
          </a:p>
          <a:p>
            <a:endParaRPr lang="en-US" altLang="en-US" sz="2000"/>
          </a:p>
          <a:p>
            <a:r>
              <a:rPr lang="en-US" altLang="en-US" sz="2000"/>
              <a:t>Kubernetes Node runs the following:</a:t>
            </a:r>
          </a:p>
          <a:p>
            <a:endParaRPr lang="en-US" altLang="en-US" sz="2000"/>
          </a:p>
          <a:p>
            <a:r>
              <a:rPr lang="en-US" altLang="en-US" sz="2000" b="1"/>
              <a:t>Kubelet: </a:t>
            </a:r>
          </a:p>
          <a:p>
            <a:pPr lvl="1"/>
            <a:r>
              <a:rPr lang="en-US" altLang="en-US" sz="2000"/>
              <a:t>Process responsible for communication between the Kubernetes control plane and the Node; </a:t>
            </a:r>
          </a:p>
          <a:p>
            <a:pPr lvl="1"/>
            <a:r>
              <a:rPr lang="en-US" altLang="en-US" sz="2000"/>
              <a:t>Manages the Pods and the containers running on a machine.</a:t>
            </a:r>
          </a:p>
          <a:p>
            <a:r>
              <a:rPr lang="en-US" altLang="en-US" sz="2000" b="1"/>
              <a:t>A container runtime (Docker) </a:t>
            </a:r>
          </a:p>
          <a:p>
            <a:pPr lvl="1"/>
            <a:r>
              <a:rPr lang="en-US" altLang="en-US" sz="2000"/>
              <a:t>Responsible for pulling the container image from a registry, unpacking the container, and running the application.</a:t>
            </a:r>
          </a:p>
          <a:p>
            <a:endParaRPr lang="en-IN" altLang="en-US" sz="200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1A3C2EAE-6BEE-A5F5-7412-1AA4F663B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  <a:t>kubectl</a:t>
            </a:r>
            <a:br>
              <a:rPr lang="en-IN" altLang="en-US">
                <a:solidFill>
                  <a:srgbClr val="222222"/>
                </a:solidFill>
                <a:latin typeface="open sans" panose="020B0606030504020204" pitchFamily="34" charset="0"/>
              </a:rPr>
            </a:br>
            <a:endParaRPr lang="en-IN" altLang="en-US"/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17820996-1786-565F-D53F-67986509B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commands:</a:t>
            </a:r>
          </a:p>
          <a:p>
            <a:endParaRPr lang="en-IN" altLang="en-US" sz="2000" b="1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get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get deployments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 list resources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describe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describe pods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show detailed information about a resource</a:t>
            </a:r>
          </a:p>
          <a:p>
            <a:r>
              <a:rPr lang="en-IN" altLang="en-US" sz="2000" b="1">
                <a:solidFill>
                  <a:srgbClr val="222222"/>
                </a:solidFill>
                <a:latin typeface="open sans" panose="020B0606030504020204" pitchFamily="34" charset="0"/>
              </a:rPr>
              <a:t>kubectl logs</a:t>
            </a:r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2000">
                <a:solidFill>
                  <a:srgbClr val="0000FF"/>
                </a:solidFill>
                <a:latin typeface="open sans" panose="020B0606030504020204" pitchFamily="34" charset="0"/>
              </a:rPr>
              <a:t>Kubectl logs k8s-training-57978f5f5d-xfk4n</a:t>
            </a:r>
          </a:p>
          <a:p>
            <a:pPr lvl="2"/>
            <a:r>
              <a:rPr lang="en-IN" altLang="en-US" sz="2000">
                <a:solidFill>
                  <a:srgbClr val="222222"/>
                </a:solidFill>
                <a:latin typeface="open sans" panose="020B0606030504020204" pitchFamily="34" charset="0"/>
              </a:rPr>
              <a:t>print the logs from a container in a pod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95EFFACD-3502-A9A3-E52F-E2823F406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</a:t>
            </a:r>
            <a:endParaRPr lang="en-IN" altLang="en-US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48ABA6F-03B7-42C9-D039-0F8C4243A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Services have  own IP address and DNS which are stable.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are High-level stable abstract point for multiple pods.</a:t>
            </a:r>
          </a:p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discover Pods by labels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Pods belong to a Service via labels.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It will append its endpoint list and add the pod to the list.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BE93C7FB-B6C0-A5CA-D61D-6358E06F5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Services</a:t>
            </a:r>
            <a:endParaRPr lang="en-IN" altLang="en-US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4D53F564-0192-D8FE-7A5D-6262F11A9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 Services will Receive a Request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They then forward the request to a pod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Uses Round-Robin or Random method for forwarding to pod.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Will use only healthy pods, will do load balancing, roll-back of versions, etc. </a:t>
            </a:r>
          </a:p>
          <a:p>
            <a:pPr lvl="1">
              <a:lnSpc>
                <a:spcPct val="200000"/>
              </a:lnSpc>
            </a:pPr>
            <a:r>
              <a:rPr lang="en-US" altLang="en-US" sz="2000">
                <a:solidFill>
                  <a:srgbClr val="292929"/>
                </a:solidFill>
              </a:rPr>
              <a:t>Service decouples System components.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19EAD9A-52B8-C089-ACF1-504346DC7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2A4BB103-2386-9BFA-D2C1-9C04B5487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altLang="en-US" sz="1800" b="1"/>
              <a:t>ClusterIP: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 Exposes the service on a cluster-internal IP.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Makes the service only reachable from within the cluster.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This is the default ServiceType.</a:t>
            </a:r>
          </a:p>
          <a:p>
            <a:r>
              <a:rPr lang="en-US" altLang="en-US" sz="1800" b="1"/>
              <a:t>NodePort: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on each Node’s IP at a static port  called as  NodePort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A ClusterIP service, to which the NodePort service will route, is automatically created.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Can contact the NodePort service, from outside the cluster, by requesting &lt;NodeIP&gt;:&lt;NodePort&gt;.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B0D163EA-A693-58DC-0531-39A045B36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Services</a:t>
            </a:r>
            <a:endParaRPr lang="en-IN" altLang="en-US"/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B2EAB192-37EC-F2BE-3B95-B662A9BCC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/>
              <a:t>LoadBalancer: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Exposes the service externally using a cloud provider’s load balancer. </a:t>
            </a:r>
          </a:p>
          <a:p>
            <a:pPr lvl="1">
              <a:lnSpc>
                <a:spcPct val="150000"/>
              </a:lnSpc>
            </a:pPr>
            <a:r>
              <a:rPr lang="en-US" altLang="en-US" sz="1800"/>
              <a:t>NodePort and ClusterIP services,are automatically created.</a:t>
            </a:r>
          </a:p>
          <a:p>
            <a:pPr lvl="1">
              <a:lnSpc>
                <a:spcPct val="150000"/>
              </a:lnSpc>
            </a:pP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2000" b="1"/>
              <a:t>Service Discovery</a:t>
            </a:r>
          </a:p>
          <a:p>
            <a:pPr lvl="1"/>
            <a:r>
              <a:rPr lang="en-US" altLang="en-US" sz="2000"/>
              <a:t>They are exposed to the outside world using the expose command</a:t>
            </a:r>
          </a:p>
          <a:p>
            <a:pPr lvl="1"/>
            <a:endParaRPr lang="en-US" altLang="en-US" sz="2000"/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2775411-917B-496A-5680-A55A9DFE4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 Service Using kubectl</a:t>
            </a:r>
            <a:endParaRPr lang="en-IN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3A2656F-9E2D-82AB-0669-0824E02B39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>
              <a:defRPr/>
            </a:pPr>
            <a:endParaRPr lang="en-IN" altLang="en-US" sz="2000" dirty="0"/>
          </a:p>
          <a:p>
            <a:pPr>
              <a:defRPr/>
            </a:pPr>
            <a:r>
              <a:rPr lang="en-IN" altLang="en-US" sz="2000" dirty="0"/>
              <a:t>create a spring-boot starter project =&gt; </a:t>
            </a:r>
            <a:r>
              <a:rPr lang="en-IN" altLang="en-US" sz="2000" dirty="0" err="1"/>
              <a:t>server.port</a:t>
            </a:r>
            <a:r>
              <a:rPr lang="en-IN" altLang="en-US" sz="2000" dirty="0"/>
              <a:t> =</a:t>
            </a:r>
            <a:r>
              <a:rPr lang="en-IN" altLang="en-US" sz="2000" b="1" dirty="0">
                <a:solidFill>
                  <a:srgbClr val="C00000"/>
                </a:solidFill>
              </a:rPr>
              <a:t>3535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</a:t>
            </a:r>
            <a:r>
              <a:rPr lang="en-IN" altLang="en-US" sz="2000" dirty="0" err="1"/>
              <a:t>finalName</a:t>
            </a:r>
            <a:r>
              <a:rPr lang="en-IN" altLang="en-US" sz="2000" dirty="0"/>
              <a:t> to pom.xml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Test the application by invoking http://localhost: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/&lt;path&gt;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Add a Docker File in the </a:t>
            </a:r>
            <a:r>
              <a:rPr lang="en-IN" altLang="en-US" sz="2000" dirty="0" err="1"/>
              <a:t>contextPath</a:t>
            </a:r>
            <a:r>
              <a:rPr lang="en-IN" altLang="en-US" sz="2000" dirty="0"/>
              <a:t>: </a:t>
            </a:r>
            <a:r>
              <a:rPr lang="en-IN" altLang="en-US" sz="2000" dirty="0" err="1">
                <a:solidFill>
                  <a:srgbClr val="0000FF"/>
                </a:solidFill>
              </a:rPr>
              <a:t>Dockerfile</a:t>
            </a:r>
            <a:endParaRPr lang="en-IN" altLang="en-US" sz="2000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 err="1"/>
              <a:t>mvn</a:t>
            </a:r>
            <a:r>
              <a:rPr lang="en-IN" altLang="en-US" sz="2000" dirty="0"/>
              <a:t> clean package</a:t>
            </a:r>
          </a:p>
          <a:p>
            <a:pPr>
              <a:defRPr/>
            </a:pPr>
            <a:r>
              <a:rPr lang="en-IN" altLang="en-US" sz="2000" b="1" dirty="0" err="1"/>
              <a:t>Dockerizing</a:t>
            </a:r>
            <a:endParaRPr lang="en-IN" altLang="en-US" sz="2000" b="1" dirty="0"/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Create a repository in </a:t>
            </a:r>
            <a:r>
              <a:rPr lang="en-IN" altLang="en-US" sz="2000" dirty="0" err="1"/>
              <a:t>dockerhub</a:t>
            </a:r>
            <a:r>
              <a:rPr lang="en-IN" altLang="en-US" sz="2000" dirty="0"/>
              <a:t> -&gt;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build --tag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.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run -it -p:2025:</a:t>
            </a:r>
            <a:r>
              <a:rPr lang="en-IN" altLang="en-US" sz="2000" b="1" dirty="0">
                <a:solidFill>
                  <a:srgbClr val="C00000"/>
                </a:solidFill>
                <a:ea typeface="+mn-ea"/>
                <a:cs typeface="+mn-cs"/>
              </a:rPr>
              <a:t>3535</a:t>
            </a:r>
            <a:r>
              <a:rPr lang="en-IN" altLang="en-US" sz="2000" dirty="0"/>
              <a:t>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   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2000" dirty="0"/>
              <a:t>docker push </a:t>
            </a:r>
            <a:r>
              <a:rPr lang="en-IN" altLang="en-US" sz="2000" dirty="0" err="1"/>
              <a:t>vatsank</a:t>
            </a:r>
            <a:r>
              <a:rPr lang="en-IN" altLang="en-US" sz="2000" dirty="0"/>
              <a:t>/driver-service:1.0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22694020-4600-B35A-2720-EE9F48C1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Kubectl Commands</a:t>
            </a:r>
            <a:endParaRPr lang="en-IN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B6E52B-5C2B-3D6D-679F-7D587C695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get nodes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pods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get services –o wide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en-US" sz="1800" dirty="0" err="1"/>
              <a:t>kubectl</a:t>
            </a:r>
            <a:r>
              <a:rPr lang="en-US" altLang="en-US" sz="1800" dirty="0"/>
              <a:t> get deployments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describe pod </a:t>
            </a:r>
          </a:p>
          <a:p>
            <a:pPr>
              <a:lnSpc>
                <a:spcPct val="150000"/>
              </a:lnSpc>
              <a:defRPr/>
            </a:pPr>
            <a:r>
              <a:rPr lang="en-IN" altLang="en-US" sz="2000" dirty="0" err="1"/>
              <a:t>kubectl</a:t>
            </a:r>
            <a:r>
              <a:rPr lang="en-IN" altLang="en-US" sz="2000" dirty="0"/>
              <a:t> delete service hello-node</a:t>
            </a:r>
          </a:p>
          <a:p>
            <a:pPr lvl="1">
              <a:lnSpc>
                <a:spcPct val="150000"/>
              </a:lnSpc>
              <a:defRPr/>
            </a:pPr>
            <a:r>
              <a:rPr lang="en-IN" altLang="en-US" sz="1800" dirty="0" err="1"/>
              <a:t>kubectl</a:t>
            </a:r>
            <a:r>
              <a:rPr lang="en-IN" altLang="en-US" sz="1800" dirty="0"/>
              <a:t> delete deployment hello-node</a:t>
            </a:r>
          </a:p>
          <a:p>
            <a:pPr>
              <a:lnSpc>
                <a:spcPct val="150000"/>
              </a:lnSpc>
              <a:defRPr/>
            </a:pPr>
            <a:endParaRPr lang="en-US" altLang="en-US" sz="2000" dirty="0"/>
          </a:p>
          <a:p>
            <a:pPr>
              <a:lnSpc>
                <a:spcPct val="150000"/>
              </a:lnSpc>
              <a:defRPr/>
            </a:pPr>
            <a:r>
              <a:rPr lang="en-US" altLang="en-US" sz="2000" dirty="0" err="1"/>
              <a:t>kubectl</a:t>
            </a:r>
            <a:r>
              <a:rPr lang="en-US" altLang="en-US" sz="2000" dirty="0"/>
              <a:t> scale deployment </a:t>
            </a:r>
            <a:r>
              <a:rPr lang="en-US" altLang="en-US" sz="2000" dirty="0" err="1"/>
              <a:t>userapi</a:t>
            </a:r>
            <a:r>
              <a:rPr lang="en-US" altLang="en-US" sz="2000" dirty="0"/>
              <a:t> --replicas=2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IN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93C4-ED8D-FEA3-5A22-9AE093F4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2FDD5-2533-4A23-1A95-11F0B0C9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Responsible for managing the lifecycle of application's Pods </a:t>
            </a:r>
          </a:p>
          <a:p>
            <a:pPr lvl="1"/>
            <a:r>
              <a:rPr lang="en-IN" sz="2000" i="1" dirty="0">
                <a:solidFill>
                  <a:srgbClr val="7030A0"/>
                </a:solidFill>
              </a:rPr>
              <a:t>Defines a desired state for application, and the Kubernetes controller ensures that the actual state matches that desire. </a:t>
            </a:r>
          </a:p>
          <a:p>
            <a:endParaRPr lang="en-IN" sz="2000" dirty="0"/>
          </a:p>
          <a:p>
            <a:r>
              <a:rPr lang="en-IN" sz="2000" dirty="0"/>
              <a:t>It guarantees a specified number of replica Pods are always running</a:t>
            </a:r>
          </a:p>
          <a:p>
            <a:pPr lvl="1"/>
            <a:r>
              <a:rPr lang="en-IN" sz="2000" dirty="0"/>
              <a:t> If a Pod crashes or a Node fails, the Deployment controller automatically replaces it.</a:t>
            </a:r>
          </a:p>
          <a:p>
            <a:endParaRPr lang="en-IN" sz="2000" dirty="0"/>
          </a:p>
          <a:p>
            <a:pPr lvl="1"/>
            <a:r>
              <a:rPr lang="en-IN" sz="2000" dirty="0"/>
              <a:t>To scale the number of application replicas up or down, manually or automatically. </a:t>
            </a:r>
          </a:p>
          <a:p>
            <a:endParaRPr lang="en-IN" sz="2000" dirty="0"/>
          </a:p>
          <a:p>
            <a:r>
              <a:rPr lang="en-IN" sz="2000" b="1" dirty="0"/>
              <a:t>It ensures </a:t>
            </a:r>
            <a:r>
              <a:rPr lang="en-IN" sz="2000" b="1" i="1" dirty="0"/>
              <a:t>running</a:t>
            </a:r>
            <a:r>
              <a:rPr lang="en-IN" sz="2000" b="1" dirty="0"/>
              <a:t> and </a:t>
            </a:r>
            <a:r>
              <a:rPr lang="en-IN" sz="2000" b="1" i="1" dirty="0"/>
              <a:t>managing</a:t>
            </a:r>
            <a:r>
              <a:rPr lang="en-IN" sz="2000" b="1" dirty="0"/>
              <a:t>  application workloads</a:t>
            </a:r>
            <a:r>
              <a:rPr lang="en-IN" sz="2000" dirty="0"/>
              <a:t> reliably.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765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A8DEA82-215D-BE93-5600-B2B41FA28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1DD028A-941C-F06E-3D7A-CF662B4BE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rgbClr val="1D1D1D"/>
                </a:solidFill>
              </a:rPr>
              <a:t>Deployment can also be done with file configurations</a:t>
            </a:r>
          </a:p>
          <a:p>
            <a:endParaRPr lang="en-US" altLang="en-US" sz="2000" dirty="0"/>
          </a:p>
          <a:p>
            <a:r>
              <a:rPr lang="en-US" altLang="en-US" sz="2000" b="1" dirty="0" err="1"/>
              <a:t>apiVersion</a:t>
            </a:r>
            <a:r>
              <a:rPr lang="en-US" altLang="en-US" sz="2000" b="1" dirty="0"/>
              <a:t> </a:t>
            </a:r>
          </a:p>
          <a:p>
            <a:pPr lvl="1"/>
            <a:r>
              <a:rPr lang="en-US" altLang="en-US" sz="2000" dirty="0"/>
              <a:t>Version of the Kubernetes API using to create the object</a:t>
            </a:r>
          </a:p>
          <a:p>
            <a:r>
              <a:rPr lang="en-US" altLang="en-US" sz="2000" b="1" dirty="0"/>
              <a:t>kind </a:t>
            </a:r>
          </a:p>
          <a:p>
            <a:pPr lvl="1"/>
            <a:r>
              <a:rPr lang="en-US" altLang="en-US" sz="2000" dirty="0"/>
              <a:t> What kind of object to create</a:t>
            </a:r>
          </a:p>
          <a:p>
            <a:r>
              <a:rPr lang="en-US" altLang="en-US" sz="2000" b="1" dirty="0"/>
              <a:t>metadata </a:t>
            </a:r>
          </a:p>
          <a:p>
            <a:pPr lvl="1"/>
            <a:r>
              <a:rPr lang="en-US" altLang="en-US" sz="2000" dirty="0"/>
              <a:t> Data that helps uniquely identify the object, including a name string, UID, and optional namespace</a:t>
            </a:r>
          </a:p>
          <a:p>
            <a:r>
              <a:rPr lang="en-US" altLang="en-US" sz="2000" b="1" dirty="0"/>
              <a:t>spec </a:t>
            </a:r>
          </a:p>
          <a:p>
            <a:pPr lvl="1"/>
            <a:r>
              <a:rPr lang="en-US" altLang="en-US" sz="2000" dirty="0"/>
              <a:t>The  state  desired for the object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FAFB-EF26-3E74-759B-F7D5EB87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8DE5-0442-6AC9-C490-C16316E9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7030A0"/>
                </a:solidFill>
              </a:rPr>
              <a:t>For a </a:t>
            </a:r>
            <a:r>
              <a:rPr lang="en-IN" sz="1800" b="1" dirty="0">
                <a:solidFill>
                  <a:srgbClr val="7030A0"/>
                </a:solidFill>
              </a:rPr>
              <a:t>Pod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containers</a:t>
            </a:r>
            <a:r>
              <a:rPr lang="en-IN" sz="1800" dirty="0"/>
              <a:t>: Image names, environment variables, and resource limits.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volumes</a:t>
            </a:r>
            <a:r>
              <a:rPr lang="en-IN" sz="1800" dirty="0"/>
              <a:t>: Storage requirements.</a:t>
            </a:r>
          </a:p>
          <a:p>
            <a:pPr>
              <a:lnSpc>
                <a:spcPct val="150000"/>
              </a:lnSpc>
            </a:pPr>
            <a:endParaRPr lang="en-IN" sz="18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C00000"/>
                </a:solidFill>
              </a:rPr>
              <a:t>For a </a:t>
            </a:r>
            <a:r>
              <a:rPr lang="en-IN" sz="1800" b="1" dirty="0">
                <a:solidFill>
                  <a:srgbClr val="C00000"/>
                </a:solidFill>
              </a:rPr>
              <a:t>Deployment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replicas</a:t>
            </a:r>
            <a:r>
              <a:rPr lang="en-IN" sz="1800" dirty="0"/>
              <a:t>: Number of pods should be running.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selector</a:t>
            </a:r>
            <a:r>
              <a:rPr lang="en-IN" sz="1800" dirty="0"/>
              <a:t>: Identify pods of current deployment.</a:t>
            </a:r>
          </a:p>
          <a:p>
            <a:pPr lvl="1"/>
            <a:r>
              <a:rPr lang="en-IN" sz="1800" dirty="0">
                <a:solidFill>
                  <a:srgbClr val="7030A0"/>
                </a:solidFill>
              </a:rPr>
              <a:t>template</a:t>
            </a:r>
            <a:r>
              <a:rPr lang="en-IN" sz="1800" dirty="0"/>
              <a:t>: The blueprint for the pods themselves</a:t>
            </a:r>
          </a:p>
          <a:p>
            <a:endParaRPr lang="en-IN" sz="1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For a </a:t>
            </a: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Service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ports</a:t>
            </a:r>
            <a:r>
              <a:rPr lang="en-IN" sz="1800" dirty="0"/>
              <a:t>: Port to listen on.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selector</a:t>
            </a:r>
            <a:r>
              <a:rPr lang="en-IN" sz="1800" dirty="0"/>
              <a:t>: Pods that receive the traffic.</a:t>
            </a:r>
          </a:p>
          <a:p>
            <a:pPr lvl="1"/>
            <a:r>
              <a:rPr lang="en-IN" sz="1800" dirty="0">
                <a:solidFill>
                  <a:srgbClr val="0070C0"/>
                </a:solidFill>
              </a:rPr>
              <a:t>type</a:t>
            </a:r>
            <a:r>
              <a:rPr lang="en-IN" sz="1800" dirty="0"/>
              <a:t>: </a:t>
            </a:r>
            <a:r>
              <a:rPr lang="en-IN" sz="1800" dirty="0" err="1"/>
              <a:t>ClusterIP</a:t>
            </a:r>
            <a:r>
              <a:rPr lang="en-IN" sz="1800" dirty="0"/>
              <a:t> or </a:t>
            </a:r>
            <a:r>
              <a:rPr lang="en-IN" sz="1800" dirty="0" err="1"/>
              <a:t>LoadBalancer</a:t>
            </a: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48748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5356-93C0-7005-B6FC-C38B8B6F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 and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238F0-D45C-5BDC-6B67-B7F7A6D8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 err="1">
                <a:solidFill>
                  <a:srgbClr val="0070C0"/>
                </a:solidFill>
              </a:rPr>
              <a:t>template.metadata.labels</a:t>
            </a:r>
            <a:endParaRPr lang="en-IN" sz="18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1800" dirty="0"/>
              <a:t>Value in the </a:t>
            </a:r>
            <a:r>
              <a:rPr lang="en-IN" sz="1800" b="1" dirty="0"/>
              <a:t>Deployment</a:t>
            </a:r>
            <a:r>
              <a:rPr lang="en-IN" sz="1800" dirty="0"/>
              <a:t>, defines the actual running Pods</a:t>
            </a:r>
          </a:p>
          <a:p>
            <a:pPr lvl="2">
              <a:lnSpc>
                <a:spcPct val="150000"/>
              </a:lnSpc>
            </a:pPr>
            <a:r>
              <a:rPr lang="en-IN" sz="1800" dirty="0" err="1"/>
              <a:t>io.kompose.service</a:t>
            </a:r>
            <a:r>
              <a:rPr lang="en-IN" sz="1800" dirty="0"/>
              <a:t>: loan-app.</a:t>
            </a:r>
          </a:p>
          <a:p>
            <a:pPr>
              <a:lnSpc>
                <a:spcPct val="150000"/>
              </a:lnSpc>
            </a:pPr>
            <a:r>
              <a:rPr lang="en-IN" sz="1800" dirty="0" err="1">
                <a:solidFill>
                  <a:srgbClr val="00B050"/>
                </a:solidFill>
              </a:rPr>
              <a:t>spec.selector</a:t>
            </a:r>
            <a:r>
              <a:rPr lang="en-IN" sz="1800" dirty="0">
                <a:solidFill>
                  <a:srgbClr val="00B050"/>
                </a:solidFill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Should match the "name tag.” in deployment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If names match the service is routed to the Pod managed by that Deployment.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2137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7C81-EA7B-27EF-8D2E-A72EC695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31264-B447-D12D-FF9E-66D3E47C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 err="1"/>
              <a:t>metadata.name</a:t>
            </a:r>
            <a:r>
              <a:rPr lang="en-IN" sz="2000" b="1" dirty="0"/>
              <a:t>: loan-app</a:t>
            </a:r>
          </a:p>
          <a:p>
            <a:pPr lvl="1"/>
            <a:r>
              <a:rPr lang="en-IN" sz="2000" b="1" dirty="0"/>
              <a:t>Unique ID</a:t>
            </a:r>
            <a:r>
              <a:rPr lang="en-IN" sz="2000" dirty="0"/>
              <a:t> of the Service within cluster. </a:t>
            </a:r>
          </a:p>
          <a:p>
            <a:pPr lvl="1"/>
            <a:r>
              <a:rPr lang="en-IN" sz="2000" dirty="0"/>
              <a:t>Used by other apps to talk to this service</a:t>
            </a:r>
          </a:p>
          <a:p>
            <a:r>
              <a:rPr lang="en-IN" sz="2000" b="1" dirty="0" err="1"/>
              <a:t>spec.selector</a:t>
            </a:r>
            <a:r>
              <a:rPr lang="en-IN" sz="2000" b="1" dirty="0"/>
              <a:t>: </a:t>
            </a:r>
            <a:r>
              <a:rPr lang="en-IN" sz="2000" b="1" dirty="0" err="1"/>
              <a:t>io.kompose.service</a:t>
            </a:r>
            <a:r>
              <a:rPr lang="en-IN" sz="2000" b="1" dirty="0"/>
              <a:t>: loan-app</a:t>
            </a:r>
          </a:p>
          <a:p>
            <a:pPr lvl="1"/>
            <a:r>
              <a:rPr lang="en-IN" sz="2000" b="1" dirty="0"/>
              <a:t>A bridge</a:t>
            </a:r>
            <a:r>
              <a:rPr lang="en-IN" sz="2000" dirty="0"/>
              <a:t>. Finds the Pod that has the label </a:t>
            </a:r>
            <a:r>
              <a:rPr lang="en-IN" sz="2000" dirty="0" err="1"/>
              <a:t>io.kompose.service</a:t>
            </a:r>
            <a:r>
              <a:rPr lang="en-IN" sz="2000" dirty="0"/>
              <a:t>: loan-app attached to it. </a:t>
            </a:r>
          </a:p>
          <a:p>
            <a:pPr lvl="1"/>
            <a:r>
              <a:rPr lang="en-IN" sz="2000" dirty="0"/>
              <a:t>If the label doesn't match exactly, the Service won't find application.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064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B4F68855-A3C4-E1F5-2809-A46B56925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With File</a:t>
            </a:r>
            <a:endParaRPr lang="en-IN" altLang="en-US"/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13712ED7-C0FD-68A3-1C25-7789A48D6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altLang="en-US" sz="2000" b="1" dirty="0"/>
              <a:t>selector </a:t>
            </a:r>
          </a:p>
          <a:p>
            <a:pPr lvl="1"/>
            <a:r>
              <a:rPr lang="en-US" altLang="en-US" sz="2000" dirty="0"/>
              <a:t>specifies that as the </a:t>
            </a:r>
            <a:r>
              <a:rPr lang="en-US" altLang="en-US" sz="2000" dirty="0" err="1"/>
              <a:t>matchLabels</a:t>
            </a:r>
            <a:r>
              <a:rPr lang="en-US" altLang="en-US" sz="2000" dirty="0"/>
              <a:t>.</a:t>
            </a:r>
          </a:p>
          <a:p>
            <a:pPr lvl="1"/>
            <a:r>
              <a:rPr lang="en-IN" sz="2000" dirty="0" err="1"/>
              <a:t>spec.selector.matchLabels</a:t>
            </a:r>
            <a:r>
              <a:rPr lang="en-IN" sz="2000" dirty="0"/>
              <a:t> </a:t>
            </a:r>
            <a:r>
              <a:rPr lang="en-IN" sz="2000" b="1" dirty="0"/>
              <a:t>must</a:t>
            </a:r>
            <a:r>
              <a:rPr lang="en-IN" sz="2000" dirty="0"/>
              <a:t> match the </a:t>
            </a:r>
            <a:r>
              <a:rPr lang="en-IN" sz="2000" dirty="0" err="1"/>
              <a:t>spec.template.metadata.labels</a:t>
            </a:r>
            <a:r>
              <a:rPr lang="en-IN" sz="2000" dirty="0"/>
              <a:t>. 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1D1D1D"/>
                </a:solidFill>
              </a:rPr>
              <a:t>replicas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Number of pods to be created,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selector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The One which the controller will select the targeted pods.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label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is used to select the necessary pods using the </a:t>
            </a:r>
            <a:r>
              <a:rPr lang="en-US" altLang="en-US" sz="2000" dirty="0" err="1">
                <a:solidFill>
                  <a:srgbClr val="1D1D1D"/>
                </a:solidFill>
              </a:rPr>
              <a:t>matchLabels</a:t>
            </a:r>
            <a:r>
              <a:rPr lang="en-US" altLang="en-US" sz="2000" dirty="0">
                <a:solidFill>
                  <a:srgbClr val="1D1D1D"/>
                </a:solidFill>
              </a:rPr>
              <a:t> field. </a:t>
            </a:r>
          </a:p>
          <a:p>
            <a:r>
              <a:rPr lang="en-US" altLang="en-US" sz="2000" b="1" dirty="0">
                <a:solidFill>
                  <a:srgbClr val="1D1D1D"/>
                </a:solidFill>
              </a:rPr>
              <a:t>template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Actual template for the pod. </a:t>
            </a:r>
          </a:p>
          <a:p>
            <a:pPr lvl="1"/>
            <a:r>
              <a:rPr lang="en-US" altLang="en-US" sz="2000" dirty="0">
                <a:solidFill>
                  <a:srgbClr val="1D1D1D"/>
                </a:solidFill>
              </a:rPr>
              <a:t>Metadata that each pod will have with the specs</a:t>
            </a:r>
            <a:endParaRPr lang="en-I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E87EAF49-003E-21FA-99A0-AEFE021F0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8F1DFAC-3125-BA34-23CB-BCA7A0C3B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Tx/>
              <a:buNone/>
              <a:defRPr/>
            </a:pPr>
            <a:r>
              <a:rPr lang="en-IN" altLang="en-US" sz="2000" dirty="0" err="1">
                <a:latin typeface="Consolas" panose="020B0609020204030204" pitchFamily="49" charset="0"/>
              </a:rPr>
              <a:t>apiVersion</a:t>
            </a:r>
            <a:r>
              <a:rPr lang="en-IN" altLang="en-US" sz="2000" dirty="0">
                <a:latin typeface="Consolas" panose="020B0609020204030204" pitchFamily="49" charset="0"/>
              </a:rPr>
              <a:t>: apps/v1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kind: Deployment 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metadata: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name: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selector:</a:t>
            </a:r>
          </a:p>
          <a:p>
            <a:pPr marL="457200" lvl="1" indent="0">
              <a:buFontTx/>
              <a:buNone/>
              <a:defRPr/>
            </a:pPr>
            <a:r>
              <a:rPr lang="en-IN" altLang="en-US" sz="2000" dirty="0">
                <a:latin typeface="Consolas" panose="020B0609020204030204" pitchFamily="49" charset="0"/>
              </a:rPr>
              <a:t>    </a:t>
            </a:r>
            <a:r>
              <a:rPr lang="en-IN" altLang="en-US" sz="2000" dirty="0" err="1">
                <a:latin typeface="Consolas" panose="020B0609020204030204" pitchFamily="49" charset="0"/>
              </a:rPr>
              <a:t>matchLabels</a:t>
            </a:r>
            <a:r>
              <a:rPr lang="en-IN" altLang="en-US" sz="2000" dirty="0"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latin typeface="Consolas" panose="020B0609020204030204" pitchFamily="49" charset="0"/>
              </a:rPr>
              <a:t>      app: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teacher-k8s</a:t>
            </a:r>
            <a:r>
              <a:rPr lang="en-US" altLang="en-US" sz="2000" dirty="0">
                <a:latin typeface="Consolas" panose="020B0609020204030204" pitchFamily="49" charset="0"/>
              </a:rPr>
              <a:t>    </a:t>
            </a:r>
          </a:p>
          <a:p>
            <a:pPr marL="457200" lvl="1" indent="0">
              <a:buFontTx/>
              <a:buNone/>
              <a:defRPr/>
            </a:pP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replicas</a:t>
            </a:r>
            <a:r>
              <a:rPr lang="en-US" altLang="en-US" sz="2000" dirty="0">
                <a:latin typeface="Consolas" panose="020B0609020204030204" pitchFamily="49" charset="0"/>
              </a:rPr>
              <a:t>: 2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54BDFCD8-509B-D017-F8B3-8F3FA9F1B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Deployment.yaml</a:t>
            </a:r>
            <a:endParaRPr lang="en-IN" altLang="en-US"/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3C2F4A10-5E87-F46E-4ED2-0DBEBC44F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FontTx/>
              <a:buNone/>
            </a:pPr>
            <a:r>
              <a:rPr lang="en-IN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altLang="en-US" sz="2000">
                <a:latin typeface="Consolas" panose="020B0609020204030204" pitchFamily="49" charset="0"/>
              </a:rPr>
              <a:t>template: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metadata: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labels: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app: teacher-k8s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spec: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containers: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- name: teacher-service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image: vatsank/teacher-service:2.0 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		imagePullPolicy: IfNotPresent</a:t>
            </a:r>
          </a:p>
          <a:p>
            <a:pPr marL="400050" lvl="1" indent="0">
              <a:buFontTx/>
              <a:buNone/>
            </a:pPr>
            <a:r>
              <a:rPr lang="en-IN" altLang="en-US" sz="2000">
                <a:latin typeface="Consolas" panose="020B0609020204030204" pitchFamily="49" charset="0"/>
              </a:rPr>
              <a:t>          ports:</a:t>
            </a:r>
          </a:p>
          <a:p>
            <a:pPr marL="400050" lvl="1" indent="0">
              <a:buFontTx/>
              <a:buNone/>
            </a:pPr>
            <a:r>
              <a:rPr lang="en-US" altLang="en-US" sz="2000">
                <a:latin typeface="Consolas" panose="020B0609020204030204" pitchFamily="49" charset="0"/>
              </a:rPr>
              <a:t>            - containerPort: 6065 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  <a:p>
            <a:pPr marL="400050" lvl="1" indent="0"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</a:rPr>
              <a:t>kubectl apply -f deployment.yaml</a:t>
            </a:r>
          </a:p>
          <a:p>
            <a:pPr marL="400050" lvl="1" indent="0">
              <a:buFontTx/>
              <a:buNone/>
            </a:pPr>
            <a:endParaRPr lang="en-US" altLang="en-US" sz="200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0416-2E2F-2C6D-6529-9F6E1B75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5081-C73E-3BFF-99B4-C10DD4B32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i="1" dirty="0"/>
              <a:t>Service is networking and exposing  application</a:t>
            </a:r>
            <a:r>
              <a:rPr lang="en-IN" sz="2000" i="1" dirty="0"/>
              <a:t> via a stable entry point. </a:t>
            </a:r>
          </a:p>
          <a:p>
            <a:endParaRPr lang="en-IN" sz="2000" dirty="0"/>
          </a:p>
          <a:p>
            <a:r>
              <a:rPr lang="en-IN" sz="2000" dirty="0"/>
              <a:t>Service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Logical set of Pods and a policy for accessing them.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 Service provides a stable, persistent IP address and DNS name. </a:t>
            </a:r>
            <a:endParaRPr lang="en-IN" sz="1800" b="1" dirty="0"/>
          </a:p>
          <a:p>
            <a:pPr lvl="1">
              <a:lnSpc>
                <a:spcPct val="150000"/>
              </a:lnSpc>
            </a:pPr>
            <a:r>
              <a:rPr lang="en-IN" sz="1800" dirty="0"/>
              <a:t>It automatically load-balances incoming network requests across all the healthy Pods that match its defined label selector.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It can be discovered within the cluster </a:t>
            </a:r>
          </a:p>
          <a:p>
            <a:pPr lvl="1"/>
            <a:endParaRPr lang="en-IN" sz="16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9823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9538A23E-BADB-729F-D7C6-7CE0A7A2A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Service.yaml</a:t>
            </a:r>
            <a:endParaRPr lang="en-IN" altLang="en-US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7318FF4B-1B2A-2318-B982-48BBC070B2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457200" lvl="1" indent="0">
              <a:buFontTx/>
              <a:buNone/>
            </a:pPr>
            <a:r>
              <a:rPr lang="en-US" altLang="en-US" sz="2000" dirty="0" err="1">
                <a:latin typeface="Consolas" panose="020B0609020204030204" pitchFamily="49" charset="0"/>
              </a:rPr>
              <a:t>apiVersion</a:t>
            </a:r>
            <a:r>
              <a:rPr lang="en-US" altLang="en-US" sz="2000" dirty="0">
                <a:latin typeface="Consolas" panose="020B0609020204030204" pitchFamily="49" charset="0"/>
              </a:rPr>
              <a:t>: v1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kind: Service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metadata: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name: loan-app-service  # user defined service name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spec: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type: </a:t>
            </a:r>
            <a:r>
              <a:rPr lang="en-US" altLang="en-US" sz="2000" dirty="0" err="1">
                <a:latin typeface="Consolas" panose="020B0609020204030204" pitchFamily="49" charset="0"/>
              </a:rPr>
              <a:t>ClusterIP</a:t>
            </a:r>
            <a:r>
              <a:rPr lang="en-US" altLang="en-US" sz="2000" dirty="0">
                <a:latin typeface="Consolas" panose="020B0609020204030204" pitchFamily="49" charset="0"/>
              </a:rPr>
              <a:t>   # Default; 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selector: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app: loan-app   # Must match the "app" label on Pods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ports: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- protocol: TCP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  port: 8080</a:t>
            </a:r>
          </a:p>
          <a:p>
            <a:pPr marL="457200" lvl="1" indent="0">
              <a:buFontTx/>
              <a:buNone/>
            </a:pPr>
            <a:r>
              <a:rPr lang="en-US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en-US" sz="2000" dirty="0" err="1">
                <a:latin typeface="Consolas" panose="020B0609020204030204" pitchFamily="49" charset="0"/>
              </a:rPr>
              <a:t>targetPort</a:t>
            </a:r>
            <a:r>
              <a:rPr lang="en-US" altLang="en-US" sz="2000" dirty="0">
                <a:latin typeface="Consolas" panose="020B0609020204030204" pitchFamily="49" charset="0"/>
              </a:rPr>
              <a:t>: 8080            </a:t>
            </a:r>
          </a:p>
          <a:p>
            <a:pPr marL="457200" lvl="1" indent="0">
              <a:buFontTx/>
              <a:buNone/>
            </a:pPr>
            <a:endParaRPr lang="en-US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4663-0547-8C61-A13D-38406564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PersistentVolumeClaim</a:t>
            </a:r>
            <a:r>
              <a:rPr lang="en-IN" b="1" dirty="0"/>
              <a:t> (PVC)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B07B-3802-BB2D-D372-F727A3902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 virtual hard drive</a:t>
            </a:r>
            <a:r>
              <a:rPr lang="en-IN" sz="1800" dirty="0"/>
              <a:t> attached to  database.</a:t>
            </a:r>
          </a:p>
          <a:p>
            <a:r>
              <a:rPr lang="en-IN" sz="1800" dirty="0"/>
              <a:t>It ensures data </a:t>
            </a:r>
            <a:r>
              <a:rPr lang="en-IN" sz="1800" b="1" dirty="0"/>
              <a:t>persists</a:t>
            </a:r>
          </a:p>
          <a:p>
            <a:r>
              <a:rPr lang="en-IN" sz="1800" b="1" dirty="0" err="1"/>
              <a:t>accessModes</a:t>
            </a:r>
            <a:r>
              <a:rPr lang="en-IN" sz="1800" b="1" dirty="0"/>
              <a:t>: </a:t>
            </a:r>
            <a:r>
              <a:rPr lang="en-IN" sz="1800" b="1" dirty="0" err="1"/>
              <a:t>ReadWriteOnce</a:t>
            </a:r>
            <a:r>
              <a:rPr lang="en-IN" sz="1800" dirty="0"/>
              <a:t>: </a:t>
            </a:r>
          </a:p>
          <a:p>
            <a:pPr lvl="1"/>
            <a:r>
              <a:rPr lang="en-IN" sz="1400" dirty="0"/>
              <a:t>"Read/Write," but only by </a:t>
            </a:r>
            <a:r>
              <a:rPr lang="en-IN" sz="1400" b="1" dirty="0"/>
              <a:t>one node</a:t>
            </a:r>
            <a:r>
              <a:rPr lang="en-IN" sz="1400" dirty="0"/>
              <a:t> at a time. </a:t>
            </a:r>
          </a:p>
          <a:p>
            <a:pPr lvl="1"/>
            <a:r>
              <a:rPr lang="en-IN" sz="1400" dirty="0"/>
              <a:t>Used to prevent data corruption.</a:t>
            </a:r>
          </a:p>
          <a:p>
            <a:r>
              <a:rPr lang="en-IN" sz="1800" b="1" dirty="0" err="1"/>
              <a:t>resources.requests.storage</a:t>
            </a:r>
            <a:r>
              <a:rPr lang="en-IN" sz="1800" b="1" dirty="0"/>
              <a:t>: 100Mi</a:t>
            </a:r>
            <a:r>
              <a:rPr lang="en-IN" sz="1800" dirty="0"/>
              <a:t>: </a:t>
            </a:r>
          </a:p>
          <a:p>
            <a:pPr lvl="1"/>
            <a:r>
              <a:rPr lang="en-IN" sz="1400" dirty="0"/>
              <a:t>Size of the hard dive </a:t>
            </a:r>
          </a:p>
          <a:p>
            <a:pPr lvl="1"/>
            <a:r>
              <a:rPr lang="en-IN" sz="1400" dirty="0"/>
              <a:t>Can be increased later depending on usage </a:t>
            </a:r>
          </a:p>
          <a:p>
            <a:endParaRPr lang="en-IN" sz="1800" b="1" dirty="0"/>
          </a:p>
          <a:p>
            <a:r>
              <a:rPr lang="en-IN" sz="2000" i="1" dirty="0"/>
              <a:t>Request the cluster for 100Mi of space and cluster finds or creates a physical disk , </a:t>
            </a:r>
            <a:r>
              <a:rPr lang="en-IN" sz="2000" i="1" dirty="0" err="1"/>
              <a:t>pos</a:t>
            </a:r>
            <a:r>
              <a:rPr lang="en-IN" sz="2000" i="1" dirty="0"/>
              <a:t> claims it by name and mounts it to a folder</a:t>
            </a:r>
          </a:p>
          <a:p>
            <a:endParaRPr lang="en-IN" sz="2000" i="1" dirty="0"/>
          </a:p>
          <a:p>
            <a:r>
              <a:rPr lang="en-IN" sz="2000" b="1" dirty="0"/>
              <a:t>Mi stands for </a:t>
            </a:r>
            <a:r>
              <a:rPr lang="en-IN" sz="2000" dirty="0"/>
              <a:t> Mebibyte based on a Binary System</a:t>
            </a:r>
          </a:p>
          <a:p>
            <a:endParaRPr lang="en-IN" sz="2000" i="1" dirty="0"/>
          </a:p>
          <a:p>
            <a:pPr marL="0" indent="0">
              <a:buNone/>
            </a:pPr>
            <a:br>
              <a:rPr lang="en-IN" sz="2000" i="1" dirty="0"/>
            </a:br>
            <a:endParaRPr lang="en-US" sz="20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4131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354E-146A-EA9A-C11C-9A1368E9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 err="1"/>
              <a:t>Kompose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A76E4-E26A-BB10-0047-2DE27B24C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brew install </a:t>
            </a:r>
            <a:r>
              <a:rPr lang="en-IN" sz="2000" dirty="0" err="1"/>
              <a:t>kompose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kompose</a:t>
            </a:r>
            <a:r>
              <a:rPr lang="en-IN" sz="2000" dirty="0"/>
              <a:t> convert -f </a:t>
            </a:r>
            <a:r>
              <a:rPr lang="en-IN" sz="2000" dirty="0" err="1"/>
              <a:t>compose.yaml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IN" sz="1800" dirty="0"/>
              <a:t>By default it creates separate </a:t>
            </a:r>
            <a:r>
              <a:rPr lang="en-IN" sz="1800" dirty="0" err="1"/>
              <a:t>yaml</a:t>
            </a:r>
            <a:r>
              <a:rPr lang="en-IN" sz="1800" dirty="0"/>
              <a:t> file for each resource </a:t>
            </a:r>
            <a:r>
              <a:rPr lang="en-IN" sz="1800" dirty="0" err="1"/>
              <a:t>service,deployment</a:t>
            </a:r>
            <a:r>
              <a:rPr lang="en-IN" sz="1800" dirty="0"/>
              <a:t> etc.,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Can use </a:t>
            </a:r>
            <a:r>
              <a:rPr lang="en-IN" sz="1800" b="1" dirty="0">
                <a:solidFill>
                  <a:srgbClr val="0070C0"/>
                </a:solidFill>
              </a:rPr>
              <a:t>–o </a:t>
            </a:r>
            <a:r>
              <a:rPr lang="en-IN" sz="1800" dirty="0"/>
              <a:t>option to get one Consolidated File</a:t>
            </a:r>
            <a:endParaRPr lang="en-IN" sz="1600" dirty="0"/>
          </a:p>
          <a:p>
            <a:pPr marL="342900" lvl="1" indent="-342900">
              <a:lnSpc>
                <a:spcPct val="150000"/>
              </a:lnSpc>
              <a:buChar char="•"/>
            </a:pPr>
            <a:r>
              <a:rPr lang="en-IN" sz="2000" dirty="0" err="1">
                <a:ea typeface="+mn-ea"/>
                <a:cs typeface="+mn-cs"/>
              </a:rPr>
              <a:t>kompose</a:t>
            </a:r>
            <a:r>
              <a:rPr lang="en-IN" sz="2000" dirty="0">
                <a:ea typeface="+mn-ea"/>
                <a:cs typeface="+mn-cs"/>
              </a:rPr>
              <a:t> convert -f docker-</a:t>
            </a:r>
            <a:r>
              <a:rPr lang="en-IN" sz="2000" dirty="0" err="1">
                <a:ea typeface="+mn-ea"/>
                <a:cs typeface="+mn-cs"/>
              </a:rPr>
              <a:t>compose.yaml</a:t>
            </a:r>
            <a:r>
              <a:rPr lang="en-IN" sz="2000" dirty="0">
                <a:ea typeface="+mn-ea"/>
                <a:cs typeface="+mn-cs"/>
              </a:rPr>
              <a:t> </a:t>
            </a:r>
            <a:r>
              <a:rPr lang="en-IN" sz="2000" b="1" dirty="0">
                <a:solidFill>
                  <a:srgbClr val="0070C0"/>
                </a:solidFill>
                <a:ea typeface="+mn-ea"/>
                <a:cs typeface="+mn-cs"/>
              </a:rPr>
              <a:t>-o </a:t>
            </a:r>
            <a:r>
              <a:rPr lang="en-IN" sz="2000" b="1" dirty="0" err="1">
                <a:solidFill>
                  <a:srgbClr val="0070C0"/>
                </a:solidFill>
                <a:ea typeface="+mn-ea"/>
                <a:cs typeface="+mn-cs"/>
              </a:rPr>
              <a:t>output.yaml</a:t>
            </a:r>
            <a:endParaRPr lang="en-IN" sz="2000" b="1" dirty="0">
              <a:solidFill>
                <a:srgbClr val="0070C0"/>
              </a:solidFill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-f </a:t>
            </a:r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.  </a:t>
            </a:r>
            <a:r>
              <a:rPr lang="en-IN" sz="1800" dirty="0">
                <a:solidFill>
                  <a:schemeClr val="accent6">
                    <a:lumMod val="75000"/>
                  </a:schemeClr>
                </a:solidFill>
              </a:rPr>
              <a:t>Look for  the dot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 err="1"/>
              <a:t>Kubectl</a:t>
            </a:r>
            <a:r>
              <a:rPr lang="en-IN" sz="2000" dirty="0"/>
              <a:t> apply –f </a:t>
            </a:r>
            <a:r>
              <a:rPr lang="en-IN" sz="2000" dirty="0" err="1"/>
              <a:t>output.yaml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61448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6539-20E5-9BF6-231A-E26D825C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Kubectl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E14D-7E66-83CA-85FB-C307811E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err="1"/>
              <a:t>kubectl</a:t>
            </a:r>
            <a:r>
              <a:rPr lang="en-IN" sz="2000" dirty="0"/>
              <a:t> rollout restart deployment loan-app</a:t>
            </a:r>
          </a:p>
          <a:p>
            <a:r>
              <a:rPr lang="en-US" sz="2000" dirty="0" err="1"/>
              <a:t>kubectl</a:t>
            </a:r>
            <a:r>
              <a:rPr lang="en-US" sz="2000" dirty="0"/>
              <a:t> logs -l </a:t>
            </a:r>
            <a:r>
              <a:rPr lang="en-US" sz="2000" dirty="0" err="1"/>
              <a:t>io.kompose.service</a:t>
            </a:r>
            <a:r>
              <a:rPr lang="en-US" sz="2000" dirty="0"/>
              <a:t>=loan-app --tail=20</a:t>
            </a:r>
          </a:p>
          <a:p>
            <a:r>
              <a:rPr lang="en-US" sz="2000" dirty="0" err="1"/>
              <a:t>kubectl</a:t>
            </a:r>
            <a:r>
              <a:rPr lang="en-US" sz="2000" dirty="0"/>
              <a:t> delete deployment </a:t>
            </a:r>
            <a:r>
              <a:rPr lang="en-US" sz="2000" dirty="0" err="1"/>
              <a:t>postgres</a:t>
            </a:r>
            <a:endParaRPr lang="en-US" sz="2000" dirty="0"/>
          </a:p>
          <a:p>
            <a:r>
              <a:rPr lang="en-US" sz="2000" dirty="0" err="1"/>
              <a:t>kubectl</a:t>
            </a:r>
            <a:r>
              <a:rPr lang="en-US" sz="2000" dirty="0"/>
              <a:t> delete </a:t>
            </a:r>
            <a:r>
              <a:rPr lang="en-US" sz="2000" dirty="0" err="1"/>
              <a:t>pvc</a:t>
            </a:r>
            <a:r>
              <a:rPr lang="en-US" sz="2000" dirty="0"/>
              <a:t> </a:t>
            </a:r>
            <a:r>
              <a:rPr lang="en-US" sz="2000" dirty="0" err="1"/>
              <a:t>postgres</a:t>
            </a:r>
            <a:r>
              <a:rPr lang="en-US" sz="2000" dirty="0"/>
              <a:t>-data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get pods 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describe pod &lt;pod-name&gt; </a:t>
            </a:r>
          </a:p>
          <a:p>
            <a:r>
              <a:rPr lang="en-IN" sz="2000" dirty="0" err="1"/>
              <a:t>kubectl</a:t>
            </a:r>
            <a:r>
              <a:rPr lang="en-IN" sz="2000" dirty="0"/>
              <a:t> get all</a:t>
            </a:r>
          </a:p>
          <a:p>
            <a:pPr marL="0" indent="0">
              <a:buNone/>
            </a:pPr>
            <a:br>
              <a:rPr lang="en-IN" sz="2000" dirty="0"/>
            </a:b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0055351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040</Template>
  <TotalTime>41498</TotalTime>
  <Words>1920</Words>
  <Application>Microsoft Macintosh PowerPoint</Application>
  <PresentationFormat>On-screen Show (4:3)</PresentationFormat>
  <Paragraphs>318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Consolas</vt:lpstr>
      <vt:lpstr>Helvetica</vt:lpstr>
      <vt:lpstr>open sans</vt:lpstr>
      <vt:lpstr>Times New Roman</vt:lpstr>
      <vt:lpstr>vees</vt:lpstr>
      <vt:lpstr>Kubernetes</vt:lpstr>
      <vt:lpstr>Kubernetes</vt:lpstr>
      <vt:lpstr> Orchestration </vt:lpstr>
      <vt:lpstr>Need for K8</vt:lpstr>
      <vt:lpstr>  Kubernetes Clusters  </vt:lpstr>
      <vt:lpstr> Kubernetes Clusters </vt:lpstr>
      <vt:lpstr> Kubernetes Clusters </vt:lpstr>
      <vt:lpstr> Kubernetes Clusters </vt:lpstr>
      <vt:lpstr>  Kubernetes Deployments  </vt:lpstr>
      <vt:lpstr>Deploying Application</vt:lpstr>
      <vt:lpstr> kubectl </vt:lpstr>
      <vt:lpstr> Kubernetes Pods </vt:lpstr>
      <vt:lpstr>Pods</vt:lpstr>
      <vt:lpstr>Pods</vt:lpstr>
      <vt:lpstr>Nodes</vt:lpstr>
      <vt:lpstr> kubectl </vt:lpstr>
      <vt:lpstr>Service</vt:lpstr>
      <vt:lpstr>Services</vt:lpstr>
      <vt:lpstr>Types of Services</vt:lpstr>
      <vt:lpstr>Types of Services</vt:lpstr>
      <vt:lpstr>Deploy Service Using kubectl</vt:lpstr>
      <vt:lpstr>Kubectl Commands</vt:lpstr>
      <vt:lpstr>Deployment</vt:lpstr>
      <vt:lpstr>Deployment With File</vt:lpstr>
      <vt:lpstr>Resource Specificity</vt:lpstr>
      <vt:lpstr>Labels and Selectors</vt:lpstr>
      <vt:lpstr>Service Configurations</vt:lpstr>
      <vt:lpstr>Deployment With File</vt:lpstr>
      <vt:lpstr>deployment.yaml</vt:lpstr>
      <vt:lpstr>Deployment.yaml</vt:lpstr>
      <vt:lpstr>Service</vt:lpstr>
      <vt:lpstr>Service.yaml</vt:lpstr>
      <vt:lpstr>PersistentVolumeClaim (PVC)</vt:lpstr>
      <vt:lpstr> Kompose </vt:lpstr>
      <vt:lpstr>Kubectl 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667</cp:revision>
  <dcterms:created xsi:type="dcterms:W3CDTF">2005-01-17T05:49:17Z</dcterms:created>
  <dcterms:modified xsi:type="dcterms:W3CDTF">2026-03-23T07:14:02Z</dcterms:modified>
</cp:coreProperties>
</file>