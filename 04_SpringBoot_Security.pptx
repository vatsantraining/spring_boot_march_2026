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22"/>
  </p:notesMasterIdLst>
  <p:sldIdLst>
    <p:sldId id="2558" r:id="rId2"/>
    <p:sldId id="2559" r:id="rId3"/>
    <p:sldId id="2560" r:id="rId4"/>
    <p:sldId id="2585" r:id="rId5"/>
    <p:sldId id="2589" r:id="rId6"/>
    <p:sldId id="2590" r:id="rId7"/>
    <p:sldId id="2588" r:id="rId8"/>
    <p:sldId id="2591" r:id="rId9"/>
    <p:sldId id="2554" r:id="rId10"/>
    <p:sldId id="2602" r:id="rId11"/>
    <p:sldId id="2600" r:id="rId12"/>
    <p:sldId id="2607" r:id="rId13"/>
    <p:sldId id="2601" r:id="rId14"/>
    <p:sldId id="2603" r:id="rId15"/>
    <p:sldId id="1938" r:id="rId16"/>
    <p:sldId id="2592" r:id="rId17"/>
    <p:sldId id="2599" r:id="rId18"/>
    <p:sldId id="2598" r:id="rId19"/>
    <p:sldId id="2604" r:id="rId20"/>
    <p:sldId id="2605" r:id="rId21"/>
  </p:sldIdLst>
  <p:sldSz cx="9144000" cy="6858000" type="screen4x3"/>
  <p:notesSz cx="6858000" cy="9144000"/>
  <p:custShowLst>
    <p:custShow name="Sapient" id="0">
      <p:sldLst/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27117" autoAdjust="0"/>
    <p:restoredTop sz="96764" autoAdjust="0"/>
  </p:normalViewPr>
  <p:slideViewPr>
    <p:cSldViewPr>
      <p:cViewPr varScale="1">
        <p:scale>
          <a:sx n="113" d="100"/>
          <a:sy n="113" d="100"/>
        </p:scale>
        <p:origin x="1032" y="4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4116"/>
    </p:cViewPr>
  </p:sorterViewPr>
  <p:notesViewPr>
    <p:cSldViewPr>
      <p:cViewPr varScale="1">
        <p:scale>
          <a:sx n="68" d="100"/>
          <a:sy n="68" d="100"/>
        </p:scale>
        <p:origin x="3680" y="20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20BAB2B2-D108-8409-CB94-88F66706DA5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7B0261A1-6558-2626-F044-20BCDBB3581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B71DDB3D-437C-42A7-6117-6910248D8FD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89" name="Rectangle 5">
            <a:extLst>
              <a:ext uri="{FF2B5EF4-FFF2-40B4-BE49-F238E27FC236}">
                <a16:creationId xmlns:a16="http://schemas.microsoft.com/office/drawing/2014/main" id="{A7273FC9-F86D-722E-9AB5-9CB24BCEE55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990" name="Rectangle 6">
            <a:extLst>
              <a:ext uri="{FF2B5EF4-FFF2-40B4-BE49-F238E27FC236}">
                <a16:creationId xmlns:a16="http://schemas.microsoft.com/office/drawing/2014/main" id="{CD6032A2-ECD4-19FA-0C20-0E17E64BFF1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91" name="Rectangle 7">
            <a:extLst>
              <a:ext uri="{FF2B5EF4-FFF2-40B4-BE49-F238E27FC236}">
                <a16:creationId xmlns:a16="http://schemas.microsoft.com/office/drawing/2014/main" id="{E41B11B4-5A64-CBE3-4C2C-4A6C754DF4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A8A2EA4-582F-8844-84D7-5760F28092C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A8A2EA4-582F-8844-84D7-5760F28092C8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2087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66BE2BB-0558-9B80-385C-777C5C885D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80AAEE4-D6BD-594D-8A42-F70E9DC231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7992265-354E-DEFC-67B3-A253590409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027062-A797-0E42-99D3-80A34C162F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5271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EF8AD8E-6F42-99E8-311E-E96B6B7A71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501DB98-0E05-447D-445D-D86B2D4B38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DCEC9-FDFA-175F-3881-66985C0D5C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7BB100-DF3C-454D-BF2F-43E7FB1AA4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9137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CABAC00-D6DB-FC4B-0D68-6523E6689A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EFFE15D-75B0-20C2-A42C-342E447C4A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78DAB82-440B-52BE-E1E1-5F03E0507C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344B87-694D-5143-B5C7-A73026C7B7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2003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66800"/>
            <a:ext cx="4038600" cy="5059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5059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CB9245-81E7-7238-53F2-599295E9FE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6B8C6B-4BF5-B05E-2D1A-774C603F5A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F878C4-F9E3-A413-16EC-0C7419F488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63CEED-6766-FC4A-A77F-5DC702103C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5030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212F816-9A73-4EF6-446A-D2CBEA5382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C70195A-7302-4709-D311-7E8D87368E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FB5AE12-C0EB-534C-22D9-EF1C9AADC5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460C2E-2FA7-474B-A8AC-E8B7FFDCCE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8249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8F9DD25-ED3A-95E9-1835-88D54FBAF2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CA2E61E-4B28-812D-C380-B77CBDFD3E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ACC997F-2DCC-BCBA-16C4-B82578343F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7A605F-F03E-FD46-832D-DD7C80CA81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4303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2F06FB4-1467-A582-2272-F51A003DEA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DB0B634-64E5-0FE7-D979-0252C1C1E9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82FCA8A-A9C6-6D0C-1B84-1A2964C7E3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F8E442-3160-3644-A6D6-545BCE25D4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4750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B2C5F5-13CB-61EE-D52A-245B385CF1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1C0AE0-6315-D28F-675F-0D9DA49873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7E95A8-748A-EEED-A60F-C636CD7495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F4C71D-B800-2846-92C3-96F88E12E4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9758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9CE46E-4EEB-B10F-4477-8095CCD625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7FFB2D-E4CD-4849-6180-BD9168D576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E42599-2413-A064-6252-F02C06FF88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8D372A-6EB9-7E45-B693-828A0115F5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4055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38C4CC5-2271-8485-5FC3-864BCEC6BD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90F024-8354-9E9C-2533-79A38AA077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5A8B27-1A5E-E623-0B20-EF6672D933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8713B6-0EAE-AE4D-8FAD-E9C799FA580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7417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6689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6689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32AB57F-D235-85B4-14D5-987A47BCAC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EF2E0DF-F404-0134-F5C5-00E4D49205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67FA79A-FE90-EB00-1FA5-EC744378BB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55FEA1-BFBA-E74E-8B80-1B82D8CDDB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3986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4111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066800"/>
            <a:ext cx="4038600" cy="5059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5059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43B27C-B121-CC52-1B74-BFEEC8B059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CE92E2-4ADC-E204-BED5-6C8F3C32F4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A21F56-25EA-C6EA-931B-1291A2501B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453271-D545-2E42-B91D-9E479ADC63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865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DB319CF-415C-D88C-21F9-CCAE4D8BAA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08422E1-638B-9343-E3DB-3DD5973881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66800"/>
            <a:ext cx="8229600" cy="505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  <p:sp>
        <p:nvSpPr>
          <p:cNvPr id="94212" name="Rectangle 4">
            <a:extLst>
              <a:ext uri="{FF2B5EF4-FFF2-40B4-BE49-F238E27FC236}">
                <a16:creationId xmlns:a16="http://schemas.microsoft.com/office/drawing/2014/main" id="{EF8AA1CC-D3C8-C4CF-EC90-C2DD59A30DA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213" name="Rectangle 5">
            <a:extLst>
              <a:ext uri="{FF2B5EF4-FFF2-40B4-BE49-F238E27FC236}">
                <a16:creationId xmlns:a16="http://schemas.microsoft.com/office/drawing/2014/main" id="{2E1ECEE6-CAAA-4B4C-8F6A-AEE4D82AB06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214" name="Rectangle 6">
            <a:extLst>
              <a:ext uri="{FF2B5EF4-FFF2-40B4-BE49-F238E27FC236}">
                <a16:creationId xmlns:a16="http://schemas.microsoft.com/office/drawing/2014/main" id="{946E16DC-8BF2-C37C-B236-DFB4862AF19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82DE7C99-6272-544E-ACF6-7A21E03E83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BD99CF-295F-5E02-E976-980BBB03A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Spring Security</a:t>
            </a:r>
          </a:p>
        </p:txBody>
      </p:sp>
      <p:sp>
        <p:nvSpPr>
          <p:cNvPr id="3075" name="Text Placeholder 4">
            <a:extLst>
              <a:ext uri="{FF2B5EF4-FFF2-40B4-BE49-F238E27FC236}">
                <a16:creationId xmlns:a16="http://schemas.microsoft.com/office/drawing/2014/main" id="{25FA6487-C1C3-2C66-E308-F8AB669E1A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92110B42-15CB-F36D-DD47-5C05B38C17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Spring Security</a:t>
            </a:r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E5DF6C44-ADB0-6FAF-A891-6EED6B1721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/>
              <a:t>Highly customizable authentication and access-control framework. 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Focuses on providing both authentication and authorization 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“</a:t>
            </a:r>
            <a:r>
              <a:rPr lang="en-US" altLang="en-US" sz="2000" b="1"/>
              <a:t>Authentication</a:t>
            </a:r>
            <a:r>
              <a:rPr lang="en-US" altLang="en-US" sz="2000"/>
              <a:t>”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The process of establishing a user, device or some other system which can perform an action in the  application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“</a:t>
            </a:r>
            <a:r>
              <a:rPr lang="en-US" altLang="en-US" sz="2000" b="1"/>
              <a:t>Authorization</a:t>
            </a:r>
            <a:r>
              <a:rPr lang="en-US" altLang="en-US" sz="2000"/>
              <a:t>”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The process of deciding whether a principal is allowed to perform an action within the application.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authorization is done after authentication process.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Once the user is authenticated they may have one or more “roles” </a:t>
            </a:r>
          </a:p>
          <a:p>
            <a:pPr lvl="1">
              <a:lnSpc>
                <a:spcPct val="150000"/>
              </a:lnSpc>
            </a:pPr>
            <a:endParaRPr lang="en-US" alt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DCF1DDCD-2832-303F-8F26-9BE6D83E79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Authentication &amp; Authorization</a:t>
            </a:r>
            <a:endParaRPr lang="en-IN" altLang="en-US"/>
          </a:p>
        </p:txBody>
      </p:sp>
      <p:pic>
        <p:nvPicPr>
          <p:cNvPr id="5123" name="Content Placeholder 4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228E34D6-FB6B-0EE7-26D8-A8CB992F6DF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143000"/>
            <a:ext cx="8229600" cy="5029200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B5A321F-B866-6571-A75B-C11CA1D2A2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Add Spring Security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3581F-03AC-8AC2-F5E1-3B33FEC70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200000"/>
              </a:lnSpc>
              <a:defRPr/>
            </a:pPr>
            <a:r>
              <a:rPr lang="en-IN" sz="1800" dirty="0"/>
              <a:t>Update the pom.xml file with the following entry, can also add spring security while use starter project.</a:t>
            </a:r>
          </a:p>
          <a:p>
            <a:pPr marL="457200" lvl="1" indent="0">
              <a:lnSpc>
                <a:spcPct val="200000"/>
              </a:lnSpc>
              <a:buFontTx/>
              <a:buNone/>
              <a:defRPr/>
            </a:pPr>
            <a:endParaRPr lang="en-IN" sz="1800" dirty="0"/>
          </a:p>
          <a:p>
            <a:pPr marL="457200" lvl="1" indent="0">
              <a:lnSpc>
                <a:spcPct val="200000"/>
              </a:lnSpc>
              <a:buFontTx/>
              <a:buNone/>
              <a:defRPr/>
            </a:pPr>
            <a:r>
              <a:rPr lang="en-IN" sz="1800" dirty="0"/>
              <a:t>&lt;dependency&gt;</a:t>
            </a:r>
          </a:p>
          <a:p>
            <a:pPr marL="457200" lvl="1" indent="0">
              <a:lnSpc>
                <a:spcPct val="200000"/>
              </a:lnSpc>
              <a:buFontTx/>
              <a:buNone/>
              <a:defRPr/>
            </a:pPr>
            <a:r>
              <a:rPr lang="en-IN" sz="1800" dirty="0"/>
              <a:t> &lt;</a:t>
            </a:r>
            <a:r>
              <a:rPr lang="en-IN" sz="1800" dirty="0" err="1"/>
              <a:t>groupId</a:t>
            </a:r>
            <a:r>
              <a:rPr lang="en-IN" sz="1800" dirty="0"/>
              <a:t>&gt;</a:t>
            </a:r>
            <a:r>
              <a:rPr lang="en-IN" sz="1800" dirty="0" err="1"/>
              <a:t>org.springframework.boot</a:t>
            </a:r>
            <a:r>
              <a:rPr lang="en-IN" sz="1800" dirty="0"/>
              <a:t>&lt;/</a:t>
            </a:r>
            <a:r>
              <a:rPr lang="en-IN" sz="1800" dirty="0" err="1"/>
              <a:t>groupId</a:t>
            </a:r>
            <a:r>
              <a:rPr lang="en-IN" sz="1800" dirty="0"/>
              <a:t>&gt;</a:t>
            </a:r>
          </a:p>
          <a:p>
            <a:pPr marL="457200" lvl="1" indent="0">
              <a:lnSpc>
                <a:spcPct val="200000"/>
              </a:lnSpc>
              <a:buFontTx/>
              <a:buNone/>
              <a:defRPr/>
            </a:pPr>
            <a:r>
              <a:rPr lang="en-IN" sz="1800" dirty="0"/>
              <a:t> &lt;</a:t>
            </a:r>
            <a:r>
              <a:rPr lang="en-IN" sz="1800" dirty="0" err="1"/>
              <a:t>artifactId</a:t>
            </a:r>
            <a:r>
              <a:rPr lang="en-IN" sz="1800" dirty="0"/>
              <a:t>&gt;spring-boot-starter-security&lt;/</a:t>
            </a:r>
            <a:r>
              <a:rPr lang="en-IN" sz="1800" dirty="0" err="1"/>
              <a:t>artifactId</a:t>
            </a:r>
            <a:r>
              <a:rPr lang="en-IN" sz="1800" dirty="0"/>
              <a:t>&gt;</a:t>
            </a:r>
          </a:p>
          <a:p>
            <a:pPr marL="457200" lvl="1" indent="0">
              <a:lnSpc>
                <a:spcPct val="200000"/>
              </a:lnSpc>
              <a:buFontTx/>
              <a:buNone/>
              <a:defRPr/>
            </a:pPr>
            <a:r>
              <a:rPr lang="en-IN" sz="1800" dirty="0"/>
              <a:t>&lt;/dependency&gt;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5D90C102-571B-C3CE-60C7-2D85BC7444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Spring Security Architecture</a:t>
            </a:r>
          </a:p>
        </p:txBody>
      </p:sp>
      <p:pic>
        <p:nvPicPr>
          <p:cNvPr id="7171" name="Picture 2">
            <a:extLst>
              <a:ext uri="{FF2B5EF4-FFF2-40B4-BE49-F238E27FC236}">
                <a16:creationId xmlns:a16="http://schemas.microsoft.com/office/drawing/2014/main" id="{5EAF4272-1DBA-EC61-A35E-4726502A7B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71575" y="1066800"/>
            <a:ext cx="6800850" cy="5059363"/>
          </a:xfr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511AE8C7-587D-41DC-3C60-CBEF6E72DC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Spring Security Architecture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299C467B-5395-5BD4-FD81-EE1AE78A53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/>
              <a:t>DelegatingFilterProxy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Servlet filter embedded in the spring context.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It delegates the incoming request to a bunch of filters </a:t>
            </a:r>
          </a:p>
          <a:p>
            <a:r>
              <a:rPr lang="en-US" altLang="en-US" sz="2000" b="1"/>
              <a:t>FilterChainProxy </a:t>
            </a:r>
          </a:p>
          <a:p>
            <a:pPr lvl="1"/>
            <a:r>
              <a:rPr lang="en-US" altLang="en-US" sz="2000"/>
              <a:t>A servlet filter which invokes the relevant filters that would work on the incoming request. </a:t>
            </a:r>
          </a:p>
          <a:p>
            <a:r>
              <a:rPr lang="en-US" altLang="en-US" sz="2000" b="1"/>
              <a:t>SecurityFilters</a:t>
            </a:r>
          </a:p>
          <a:p>
            <a:pPr lvl="1"/>
            <a:r>
              <a:rPr lang="en-US" altLang="en-US" sz="2000"/>
              <a:t>Contains a list of filters that need to be invoked before the controller can handle the request. </a:t>
            </a:r>
          </a:p>
          <a:p>
            <a:pPr lvl="1"/>
            <a:r>
              <a:rPr lang="en-US" altLang="en-US" sz="2000"/>
              <a:t>SecurityContextPersistenceFilter, HeaderWriterFilter, CsrfFilter, LogoutFilter, UsernamePasswordAuthenticationFilter etc. </a:t>
            </a:r>
          </a:p>
          <a:p>
            <a:pPr lvl="1"/>
            <a:r>
              <a:rPr lang="en-US" altLang="en-US" sz="2000"/>
              <a:t>FilterChainProxy queries this class to invoke each filter in a loop.</a:t>
            </a:r>
          </a:p>
          <a:p>
            <a:endParaRPr lang="en-US" altLang="en-US" sz="2000"/>
          </a:p>
          <a:p>
            <a:endParaRPr lang="en-IN" altLang="en-US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AF516FFE-E41B-1A84-2B45-6EF1941B35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228600"/>
          </a:xfrm>
        </p:spPr>
        <p:txBody>
          <a:bodyPr/>
          <a:lstStyle/>
          <a:p>
            <a:r>
              <a:rPr lang="en-IN" altLang="en-US"/>
              <a:t>Authorizations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795FD7B7-607B-37E6-1E58-9A1203C8B1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000" b="1"/>
              <a:t>permitAll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No need of any authorization to access current page.</a:t>
            </a:r>
          </a:p>
          <a:p>
            <a:pPr>
              <a:lnSpc>
                <a:spcPct val="150000"/>
              </a:lnSpc>
            </a:pPr>
            <a:r>
              <a:rPr lang="en-US" altLang="en-US" sz="2000" b="1"/>
              <a:t>authenticated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Requires  Login(username/password) and no authorization(role based access) is required.</a:t>
            </a:r>
          </a:p>
          <a:p>
            <a:pPr>
              <a:lnSpc>
                <a:spcPct val="150000"/>
              </a:lnSpc>
            </a:pPr>
            <a:r>
              <a:rPr lang="en-US" altLang="en-US" sz="2000" b="1"/>
              <a:t>hasAuthority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Requires that user should have both authentication and role based authorization access.</a:t>
            </a:r>
          </a:p>
          <a:p>
            <a:pPr>
              <a:lnSpc>
                <a:spcPct val="150000"/>
              </a:lnSpc>
            </a:pPr>
            <a:r>
              <a:rPr lang="en-US" altLang="en-US" sz="2000" b="1"/>
              <a:t>hasAnyAuthority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It represents that user should have authentication and multiple role based authorization access. </a:t>
            </a:r>
          </a:p>
          <a:p>
            <a:endParaRPr lang="en-US" altLang="en-US" sz="2000"/>
          </a:p>
          <a:p>
            <a:endParaRPr lang="en-IN" altLang="en-US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242FB600-ADCE-0CC7-45F0-874B28018F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>
                <a:solidFill>
                  <a:srgbClr val="000000"/>
                </a:solidFill>
              </a:rPr>
              <a:t>BCryptPasswordEncoder</a:t>
            </a:r>
            <a:endParaRPr lang="en-IN" altLang="en-US"/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CA2A6307-ABA1-D309-A6F6-D40AF45165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altLang="en-US" sz="2000"/>
              <a:t>An encryption class of Spring Security.</a:t>
            </a:r>
          </a:p>
          <a:p>
            <a:pPr>
              <a:lnSpc>
                <a:spcPct val="150000"/>
              </a:lnSpc>
            </a:pPr>
            <a:r>
              <a:rPr lang="en-IN" altLang="en-US" sz="2000"/>
              <a:t>Spring provides a variety of encryption methods for passwords. </a:t>
            </a:r>
          </a:p>
          <a:p>
            <a:pPr>
              <a:lnSpc>
                <a:spcPct val="150000"/>
              </a:lnSpc>
            </a:pPr>
            <a:r>
              <a:rPr lang="en-IN" altLang="en-US" sz="2000"/>
              <a:t>The official recommendation is to use BCryptPasswordEncoder, which uses the BCrypt strong hash function.</a:t>
            </a:r>
          </a:p>
          <a:p>
            <a:endParaRPr lang="en-IN" altLang="en-US" sz="2000"/>
          </a:p>
          <a:p>
            <a:pPr marL="457200" lvl="1" indent="0">
              <a:buFontTx/>
              <a:buNone/>
            </a:pPr>
            <a:r>
              <a:rPr lang="en-IN" altLang="en-US" sz="2000"/>
              <a:t>@Bean</a:t>
            </a:r>
          </a:p>
          <a:p>
            <a:pPr marL="457200" lvl="1" indent="0">
              <a:buFontTx/>
              <a:buNone/>
            </a:pPr>
            <a:r>
              <a:rPr lang="en-IN" altLang="en-US" sz="2000"/>
              <a:t>    PasswordEncoder passwordEncoder() {</a:t>
            </a:r>
          </a:p>
          <a:p>
            <a:pPr marL="457200" lvl="1" indent="0">
              <a:buFontTx/>
              <a:buNone/>
            </a:pPr>
            <a:r>
              <a:rPr lang="en-IN" altLang="en-US" sz="2000"/>
              <a:t>        return new BCryptPasswordEncoder();</a:t>
            </a:r>
          </a:p>
          <a:p>
            <a:pPr marL="457200" lvl="1" indent="0">
              <a:buFontTx/>
              <a:buNone/>
            </a:pPr>
            <a:r>
              <a:rPr lang="en-IN" altLang="en-US" sz="2000"/>
              <a:t>    }</a:t>
            </a:r>
          </a:p>
          <a:p>
            <a:endParaRPr lang="en-IN" altLang="en-US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D4656E04-5959-0431-E467-F609832A3C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HttpSecurity</a:t>
            </a:r>
            <a:r>
              <a:rPr lang="en-US" altLang="en-US"/>
              <a:t> 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13575D52-9603-7AE6-75E9-08D7EC8C7C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fontAlgn="t"/>
            <a:r>
              <a:rPr lang="en-US" altLang="en-US" sz="2000" b="1"/>
              <a:t>HttpSecurity</a:t>
            </a:r>
          </a:p>
          <a:p>
            <a:pPr lvl="1" fontAlgn="t"/>
            <a:r>
              <a:rPr lang="en-US" altLang="en-US" sz="1800"/>
              <a:t>Provides a Method authoriseRequests()</a:t>
            </a:r>
          </a:p>
          <a:p>
            <a:pPr fontAlgn="t"/>
            <a:endParaRPr lang="en-US" altLang="en-US" sz="2000" b="1"/>
          </a:p>
          <a:p>
            <a:pPr fontAlgn="t"/>
            <a:r>
              <a:rPr lang="en-US" altLang="en-US" sz="2000" b="1"/>
              <a:t>authorizeRequests()</a:t>
            </a:r>
            <a:endParaRPr lang="en-US" altLang="en-US" sz="2000"/>
          </a:p>
          <a:p>
            <a:pPr lvl="1">
              <a:lnSpc>
                <a:spcPct val="150000"/>
              </a:lnSpc>
            </a:pPr>
            <a:r>
              <a:rPr lang="en-US" altLang="en-US" sz="2000"/>
              <a:t>To Define custom requirements for URLs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Can add multiple children to this  method. </a:t>
            </a:r>
          </a:p>
          <a:p>
            <a:pPr lvl="1">
              <a:lnSpc>
                <a:spcPct val="150000"/>
              </a:lnSpc>
            </a:pPr>
            <a:r>
              <a:rPr lang="en-US" altLang="en-US" sz="2000"/>
              <a:t>The matchers are considered in the order they were declared.</a:t>
            </a:r>
          </a:p>
          <a:p>
            <a:pPr lvl="1">
              <a:buFont typeface="Times New Roman" panose="02020603050405020304" pitchFamily="18" charset="0"/>
              <a:buNone/>
            </a:pPr>
            <a:endParaRPr lang="en-US" altLang="en-US" sz="2000"/>
          </a:p>
          <a:p>
            <a:pPr lvl="1">
              <a:buFont typeface="Times New Roman" panose="02020603050405020304" pitchFamily="18" charset="0"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    http.authorizeRequests()</a:t>
            </a:r>
          </a:p>
          <a:p>
            <a:pPr lvl="1">
              <a:buFont typeface="Times New Roman" panose="02020603050405020304" pitchFamily="18" charset="0"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      .anyRequest().authenticated()</a:t>
            </a:r>
          </a:p>
          <a:p>
            <a:pPr lvl="1">
              <a:buFont typeface="Times New Roman" panose="02020603050405020304" pitchFamily="18" charset="0"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      .and().httpBasic();</a:t>
            </a:r>
          </a:p>
          <a:p>
            <a:pPr lvl="1">
              <a:buFont typeface="Times New Roman" panose="02020603050405020304" pitchFamily="18" charset="0"/>
              <a:buNone/>
            </a:pPr>
            <a:endParaRPr lang="en-US" altLang="en-US" sz="2000" b="1"/>
          </a:p>
          <a:p>
            <a:pPr lvl="1">
              <a:buFont typeface="Times New Roman" panose="02020603050405020304" pitchFamily="18" charset="0"/>
              <a:buNone/>
            </a:pPr>
            <a:endParaRPr lang="en-US" altLang="en-US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62633-1C68-9885-C9B4-790A4D7CD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563563"/>
          </a:xfrm>
        </p:spPr>
        <p:txBody>
          <a:bodyPr/>
          <a:lstStyle/>
          <a:p>
            <a:r>
              <a:rPr lang="en-US" dirty="0"/>
              <a:t>Security Filter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3A06C-4CE0-B9A0-504C-AF2EB57EB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8364"/>
            <a:ext cx="8229600" cy="5257800"/>
          </a:xfrm>
        </p:spPr>
        <p:txBody>
          <a:bodyPr/>
          <a:lstStyle/>
          <a:p>
            <a:pPr lvl="1" indent="-342900"/>
            <a:r>
              <a:rPr lang="en-IN" sz="2000" dirty="0"/>
              <a:t>Takes an </a:t>
            </a:r>
            <a:r>
              <a:rPr lang="en-IN" sz="2000" dirty="0" err="1"/>
              <a:t>HttpSecurity</a:t>
            </a:r>
            <a:r>
              <a:rPr lang="en-IN" sz="2000" dirty="0"/>
              <a:t> object as an argument. </a:t>
            </a:r>
          </a:p>
          <a:p>
            <a:pPr lvl="1" indent="-342900"/>
            <a:r>
              <a:rPr lang="en-IN" sz="2000" dirty="0"/>
              <a:t>A builder that can be used configure HTTP security.</a:t>
            </a:r>
          </a:p>
          <a:p>
            <a:pPr marL="400050" lvl="1" indent="0">
              <a:buNone/>
            </a:pPr>
            <a:r>
              <a:rPr lang="en-IN" sz="2000" b="1" dirty="0" err="1"/>
              <a:t>authorizeHttpRequests</a:t>
            </a:r>
            <a:r>
              <a:rPr lang="en-IN" sz="2000" b="1" dirty="0"/>
              <a:t>(): </a:t>
            </a:r>
          </a:p>
          <a:p>
            <a:pPr lvl="1" indent="-342900"/>
            <a:r>
              <a:rPr lang="en-IN" sz="2000" dirty="0"/>
              <a:t>To configure authorization rules for HTTP requests.</a:t>
            </a:r>
          </a:p>
          <a:p>
            <a:pPr marL="800100" lvl="1" indent="-342900"/>
            <a:r>
              <a:rPr lang="en-IN" sz="2000" b="1" dirty="0" err="1"/>
              <a:t>requestMatchers</a:t>
            </a:r>
            <a:r>
              <a:rPr lang="en-IN" sz="2000" b="1" dirty="0"/>
              <a:t>("/public/</a:t>
            </a:r>
            <a:r>
              <a:rPr lang="en-IN" sz="2000" dirty="0"/>
              <a:t>": ).</a:t>
            </a:r>
            <a:r>
              <a:rPr lang="en-IN" sz="2000" dirty="0" err="1"/>
              <a:t>permitAll</a:t>
            </a:r>
            <a:r>
              <a:rPr lang="en-IN" sz="2000" dirty="0"/>
              <a:t>()`**: </a:t>
            </a:r>
          </a:p>
          <a:p>
            <a:pPr marL="1200150" lvl="2" indent="-342900"/>
            <a:r>
              <a:rPr lang="en-IN" sz="2000" dirty="0"/>
              <a:t>Specifies that any request matching the /public/** pattern </a:t>
            </a:r>
          </a:p>
          <a:p>
            <a:pPr marL="800100" lvl="1" indent="-342900"/>
            <a:r>
              <a:rPr lang="en-IN" sz="2000" dirty="0" err="1"/>
              <a:t>anyRequest</a:t>
            </a:r>
            <a:r>
              <a:rPr lang="en-IN" sz="2000" dirty="0"/>
              <a:t>().authenticated(): </a:t>
            </a:r>
          </a:p>
          <a:p>
            <a:pPr marL="1200150" lvl="2" indent="-342900"/>
            <a:r>
              <a:rPr lang="en-IN" sz="2000" dirty="0"/>
              <a:t>Specifies that all other requests (not matching /public/**) require authentication.</a:t>
            </a:r>
          </a:p>
          <a:p>
            <a:r>
              <a:rPr lang="en-IN" sz="2000" b="1" dirty="0" err="1"/>
              <a:t>permitAll</a:t>
            </a:r>
            <a:r>
              <a:rPr lang="en-IN" sz="2000" b="1" dirty="0"/>
              <a:t>(): </a:t>
            </a:r>
          </a:p>
          <a:p>
            <a:pPr lvl="1"/>
            <a:r>
              <a:rPr lang="en-IN" sz="2000" dirty="0"/>
              <a:t>Accessible without requiring authentication.</a:t>
            </a:r>
          </a:p>
          <a:p>
            <a:r>
              <a:rPr lang="en-IN" sz="2000" b="1" dirty="0"/>
              <a:t>return </a:t>
            </a:r>
            <a:r>
              <a:rPr lang="en-IN" sz="2000" b="1" dirty="0" err="1"/>
              <a:t>http.build</a:t>
            </a:r>
            <a:r>
              <a:rPr lang="en-IN" sz="2000" b="1" dirty="0"/>
              <a:t>(): </a:t>
            </a:r>
          </a:p>
          <a:p>
            <a:pPr lvl="1" indent="-342900"/>
            <a:r>
              <a:rPr lang="en-IN" sz="2000" dirty="0"/>
              <a:t>Returns the </a:t>
            </a:r>
            <a:r>
              <a:rPr lang="en-IN" sz="2000" dirty="0" err="1"/>
              <a:t>SecurityFilterChain</a:t>
            </a:r>
            <a:r>
              <a:rPr lang="en-IN" sz="2000" dirty="0"/>
              <a:t> object based on the configured </a:t>
            </a:r>
            <a:r>
              <a:rPr lang="en-IN" sz="2000" dirty="0" err="1"/>
              <a:t>HttpSecurity</a:t>
            </a:r>
            <a:r>
              <a:rPr lang="en-IN" sz="2000" dirty="0"/>
              <a:t>.</a:t>
            </a:r>
          </a:p>
          <a:p>
            <a:pPr marL="400050" lvl="1" indent="0">
              <a:buNone/>
            </a:pPr>
            <a:endParaRPr lang="en-IN" sz="2000" dirty="0"/>
          </a:p>
          <a:p>
            <a:pPr marL="400050" lvl="1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49319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4BA75-D149-DBB7-1222-4C37D6CC2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563564"/>
          </a:xfrm>
        </p:spPr>
        <p:txBody>
          <a:bodyPr/>
          <a:lstStyle/>
          <a:p>
            <a:r>
              <a:rPr lang="en-US" dirty="0"/>
              <a:t>Security Config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9156B-0BDD-2E2E-6BA2-907F39E39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8364"/>
            <a:ext cx="8229600" cy="5257800"/>
          </a:xfrm>
        </p:spPr>
        <p:txBody>
          <a:bodyPr/>
          <a:lstStyle/>
          <a:p>
            <a:pPr marL="457200" lvl="1" indent="0">
              <a:buNone/>
            </a:pPr>
            <a:r>
              <a:rPr lang="en-IN" b="1" dirty="0">
                <a:solidFill>
                  <a:srgbClr val="7030A0"/>
                </a:solidFill>
              </a:rPr>
              <a:t>import static </a:t>
            </a:r>
            <a:r>
              <a:rPr lang="en-IN" b="1" dirty="0" err="1">
                <a:solidFill>
                  <a:srgbClr val="7030A0"/>
                </a:solidFill>
              </a:rPr>
              <a:t>org.springframework.security.config.Customizer.</a:t>
            </a:r>
            <a:r>
              <a:rPr lang="en-IN" b="1" i="1" dirty="0" err="1">
                <a:solidFill>
                  <a:srgbClr val="7030A0"/>
                </a:solidFill>
              </a:rPr>
              <a:t>withDefaults</a:t>
            </a:r>
            <a:r>
              <a:rPr lang="en-IN" b="1" i="1" dirty="0">
                <a:solidFill>
                  <a:srgbClr val="7030A0"/>
                </a:solidFill>
              </a:rPr>
              <a:t>;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sz="1800" dirty="0"/>
              <a:t>@Configuration</a:t>
            </a:r>
          </a:p>
          <a:p>
            <a:pPr marL="457200" lvl="1" indent="0">
              <a:buNone/>
            </a:pPr>
            <a:r>
              <a:rPr lang="en-IN" sz="1800" dirty="0"/>
              <a:t>@</a:t>
            </a:r>
            <a:r>
              <a:rPr lang="en-IN" sz="1800" dirty="0" err="1"/>
              <a:t>EnableWebSecurity</a:t>
            </a:r>
            <a:endParaRPr lang="en-IN" sz="1800" dirty="0"/>
          </a:p>
          <a:p>
            <a:pPr marL="457200" lvl="1" indent="0">
              <a:buNone/>
            </a:pPr>
            <a:r>
              <a:rPr lang="en-IN" sz="1800" dirty="0"/>
              <a:t>@</a:t>
            </a:r>
            <a:r>
              <a:rPr lang="en-IN" sz="1800" dirty="0" err="1"/>
              <a:t>AllArgsConstructor</a:t>
            </a:r>
            <a:endParaRPr lang="en-IN" sz="1800" dirty="0"/>
          </a:p>
          <a:p>
            <a:pPr marL="457200" lvl="1" indent="0">
              <a:buNone/>
            </a:pPr>
            <a:r>
              <a:rPr lang="en-IN" sz="1800" b="1" dirty="0"/>
              <a:t>public</a:t>
            </a:r>
            <a:r>
              <a:rPr lang="en-IN" sz="1800" dirty="0"/>
              <a:t> </a:t>
            </a:r>
            <a:r>
              <a:rPr lang="en-IN" sz="1800" b="1" dirty="0"/>
              <a:t>class</a:t>
            </a:r>
            <a:r>
              <a:rPr lang="en-IN" sz="1800" dirty="0"/>
              <a:t> </a:t>
            </a:r>
            <a:r>
              <a:rPr lang="en-IN" sz="1800" dirty="0" err="1"/>
              <a:t>SecurityConfig</a:t>
            </a:r>
            <a:r>
              <a:rPr lang="en-IN" sz="1800" dirty="0"/>
              <a:t> {</a:t>
            </a:r>
          </a:p>
          <a:p>
            <a:pPr marL="457200" lvl="1" indent="0">
              <a:buNone/>
            </a:pPr>
            <a:endParaRPr lang="en-IN" sz="1800" dirty="0"/>
          </a:p>
          <a:p>
            <a:pPr marL="457200" lvl="1" indent="0">
              <a:buNone/>
            </a:pPr>
            <a:r>
              <a:rPr lang="en-IN" sz="1800" b="1" dirty="0"/>
              <a:t>private</a:t>
            </a:r>
            <a:r>
              <a:rPr lang="en-IN" sz="1800" dirty="0"/>
              <a:t> </a:t>
            </a:r>
            <a:r>
              <a:rPr lang="en-IN" sz="1800" b="1" dirty="0"/>
              <a:t>final</a:t>
            </a:r>
            <a:r>
              <a:rPr lang="en-IN" sz="1800" dirty="0"/>
              <a:t> </a:t>
            </a:r>
            <a:r>
              <a:rPr lang="en-IN" sz="1800" dirty="0" err="1"/>
              <a:t>UserDetailSecurity</a:t>
            </a:r>
            <a:r>
              <a:rPr lang="en-IN" sz="1800" dirty="0"/>
              <a:t> </a:t>
            </a:r>
            <a:r>
              <a:rPr lang="en-IN" sz="1800" u="sng" dirty="0" err="1"/>
              <a:t>userDetailsService</a:t>
            </a:r>
            <a:r>
              <a:rPr lang="en-IN" sz="1800" dirty="0"/>
              <a:t>;</a:t>
            </a:r>
          </a:p>
          <a:p>
            <a:pPr marL="457200" lvl="1" indent="0">
              <a:buNone/>
            </a:pPr>
            <a:br>
              <a:rPr lang="en-IN" sz="1800" dirty="0"/>
            </a:br>
            <a:r>
              <a:rPr lang="en-IN" sz="1800" dirty="0"/>
              <a:t>@Bean</a:t>
            </a:r>
          </a:p>
          <a:p>
            <a:pPr marL="457200" lvl="1" indent="0">
              <a:buNone/>
            </a:pPr>
            <a:r>
              <a:rPr lang="en-IN" sz="1800" dirty="0" err="1"/>
              <a:t>AuthenticationManager</a:t>
            </a:r>
            <a:r>
              <a:rPr lang="en-IN" sz="1800" dirty="0"/>
              <a:t> </a:t>
            </a:r>
            <a:r>
              <a:rPr lang="en-IN" sz="1800" dirty="0" err="1"/>
              <a:t>authenticationManager</a:t>
            </a:r>
            <a:r>
              <a:rPr lang="en-IN" sz="1800" dirty="0"/>
              <a:t>(</a:t>
            </a:r>
            <a:r>
              <a:rPr lang="en-IN" sz="1800" dirty="0" err="1"/>
              <a:t>AuthenticationConfiguration</a:t>
            </a:r>
            <a:r>
              <a:rPr lang="en-IN" sz="1800" dirty="0"/>
              <a:t> </a:t>
            </a:r>
            <a:r>
              <a:rPr lang="en-IN" sz="1800" dirty="0" err="1"/>
              <a:t>authenticationConfiguration</a:t>
            </a:r>
            <a:r>
              <a:rPr lang="en-IN" sz="1800" dirty="0"/>
              <a:t>) </a:t>
            </a:r>
            <a:r>
              <a:rPr lang="en-IN" sz="1800" b="1" dirty="0"/>
              <a:t>throws</a:t>
            </a:r>
            <a:r>
              <a:rPr lang="en-IN" sz="1800" dirty="0"/>
              <a:t> Exception {</a:t>
            </a:r>
          </a:p>
          <a:p>
            <a:pPr marL="457200" lvl="1" indent="0">
              <a:buNone/>
            </a:pPr>
            <a:r>
              <a:rPr lang="en-IN" sz="1800" b="1" dirty="0"/>
              <a:t>       return</a:t>
            </a:r>
            <a:r>
              <a:rPr lang="en-IN" sz="1800" dirty="0"/>
              <a:t> </a:t>
            </a:r>
            <a:r>
              <a:rPr lang="en-IN" sz="1800" dirty="0" err="1"/>
              <a:t>authenticationConfiguration.getAuthenticationManager</a:t>
            </a:r>
            <a:r>
              <a:rPr lang="en-IN" sz="1800" dirty="0"/>
              <a:t>();</a:t>
            </a:r>
          </a:p>
          <a:p>
            <a:pPr marL="457200" lvl="1" indent="0">
              <a:buNone/>
            </a:pPr>
            <a:r>
              <a:rPr lang="en-IN" sz="1800" dirty="0"/>
              <a:t>}</a:t>
            </a:r>
          </a:p>
          <a:p>
            <a:pPr marL="457200" lvl="1" indent="0">
              <a:buNone/>
            </a:pPr>
            <a:endParaRPr lang="en-IN" sz="1800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795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52C18-C2C0-A65C-B58E-044711CAE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5A4DD-39B8-5C56-DFA2-2E8428DF1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Config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B5CEF-FE03-6B9A-4CB5-D52FF1AEC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IN" dirty="0"/>
              <a:t>@Bean</a:t>
            </a:r>
          </a:p>
          <a:p>
            <a:pPr marL="457200" lvl="1" indent="0">
              <a:buNone/>
            </a:pPr>
            <a:r>
              <a:rPr lang="en-IN" dirty="0" err="1"/>
              <a:t>SecurityFilterChain</a:t>
            </a:r>
            <a:r>
              <a:rPr lang="en-IN" dirty="0"/>
              <a:t> </a:t>
            </a:r>
            <a:r>
              <a:rPr lang="en-IN" dirty="0" err="1"/>
              <a:t>securityFilterChain</a:t>
            </a:r>
            <a:r>
              <a:rPr lang="en-IN" dirty="0"/>
              <a:t>(HttpSecurity http) </a:t>
            </a:r>
            <a:r>
              <a:rPr lang="en-IN" b="1" dirty="0"/>
              <a:t>throws</a:t>
            </a:r>
            <a:r>
              <a:rPr lang="en-IN" dirty="0"/>
              <a:t> Exception {</a:t>
            </a:r>
          </a:p>
          <a:p>
            <a:pPr marL="457200" lvl="1" indent="0">
              <a:buNone/>
            </a:pPr>
            <a:r>
              <a:rPr lang="en-IN" dirty="0"/>
              <a:t>http</a:t>
            </a:r>
          </a:p>
          <a:p>
            <a:pPr marL="457200" lvl="1" indent="0">
              <a:buNone/>
            </a:pPr>
            <a:r>
              <a:rPr lang="en-IN" dirty="0"/>
              <a:t>.</a:t>
            </a:r>
            <a:r>
              <a:rPr lang="en-IN" dirty="0" err="1"/>
              <a:t>csrf</a:t>
            </a:r>
            <a:r>
              <a:rPr lang="en-IN" dirty="0"/>
              <a:t>(</a:t>
            </a:r>
            <a:r>
              <a:rPr lang="en-IN" dirty="0" err="1"/>
              <a:t>csrf</a:t>
            </a:r>
            <a:r>
              <a:rPr lang="en-IN" dirty="0"/>
              <a:t> -&gt; </a:t>
            </a:r>
            <a:r>
              <a:rPr lang="en-IN" dirty="0" err="1"/>
              <a:t>csrf.disable</a:t>
            </a:r>
            <a:r>
              <a:rPr lang="en-IN" dirty="0"/>
              <a:t>()) </a:t>
            </a:r>
          </a:p>
          <a:p>
            <a:pPr marL="457200" lvl="1" indent="0">
              <a:buNone/>
            </a:pPr>
            <a:r>
              <a:rPr lang="en-IN" dirty="0"/>
              <a:t>.</a:t>
            </a:r>
            <a:r>
              <a:rPr lang="en-IN" dirty="0" err="1"/>
              <a:t>authorizeHttpRequests</a:t>
            </a:r>
            <a:r>
              <a:rPr lang="en-IN" dirty="0"/>
              <a:t>(auth -&gt; auth</a:t>
            </a:r>
          </a:p>
          <a:p>
            <a:pPr marL="457200" lvl="1" indent="0">
              <a:buNone/>
            </a:pPr>
            <a:r>
              <a:rPr lang="en-IN" dirty="0"/>
              <a:t>.</a:t>
            </a:r>
            <a:r>
              <a:rPr lang="en-IN" dirty="0" err="1"/>
              <a:t>requestMatchers</a:t>
            </a:r>
            <a:r>
              <a:rPr lang="en-IN" dirty="0"/>
              <a:t>("/</a:t>
            </a:r>
            <a:r>
              <a:rPr lang="en-IN" dirty="0" err="1"/>
              <a:t>api</a:t>
            </a:r>
            <a:r>
              <a:rPr lang="en-IN" dirty="0"/>
              <a:t>/v1/auth/**").</a:t>
            </a:r>
            <a:r>
              <a:rPr lang="en-IN" dirty="0" err="1"/>
              <a:t>permitAll</a:t>
            </a:r>
            <a:r>
              <a:rPr lang="en-IN" dirty="0"/>
              <a:t>()</a:t>
            </a:r>
          </a:p>
          <a:p>
            <a:pPr marL="457200" lvl="1" indent="0">
              <a:buNone/>
            </a:pPr>
            <a:r>
              <a:rPr lang="en-IN" dirty="0"/>
              <a:t>.</a:t>
            </a:r>
            <a:r>
              <a:rPr lang="en-IN" dirty="0" err="1"/>
              <a:t>anyRequest</a:t>
            </a:r>
            <a:r>
              <a:rPr lang="en-IN" dirty="0"/>
              <a:t>().authenticated()</a:t>
            </a:r>
          </a:p>
          <a:p>
            <a:pPr marL="457200" lvl="1" indent="0">
              <a:buNone/>
            </a:pPr>
            <a:r>
              <a:rPr lang="en-IN" dirty="0"/>
              <a:t>)</a:t>
            </a:r>
          </a:p>
          <a:p>
            <a:pPr marL="457200" lvl="1" indent="0">
              <a:buNone/>
            </a:pPr>
            <a:r>
              <a:rPr lang="en-IN" dirty="0"/>
              <a:t>.</a:t>
            </a:r>
            <a:r>
              <a:rPr lang="en-IN" dirty="0" err="1"/>
              <a:t>httpBasic</a:t>
            </a:r>
            <a:r>
              <a:rPr lang="en-IN" dirty="0"/>
              <a:t>(</a:t>
            </a:r>
            <a:r>
              <a:rPr lang="en-IN" dirty="0" err="1"/>
              <a:t>Customizer.</a:t>
            </a:r>
            <a:r>
              <a:rPr lang="en-IN" i="1" dirty="0" err="1"/>
              <a:t>withDefaults</a:t>
            </a:r>
            <a:r>
              <a:rPr lang="en-IN" dirty="0"/>
              <a:t>());</a:t>
            </a:r>
          </a:p>
          <a:p>
            <a:pPr marL="457200" lvl="1" indent="0">
              <a:buNone/>
            </a:pPr>
            <a:r>
              <a:rPr lang="en-IN" b="1" dirty="0"/>
              <a:t>return</a:t>
            </a:r>
            <a:r>
              <a:rPr lang="en-IN" dirty="0"/>
              <a:t> </a:t>
            </a:r>
            <a:r>
              <a:rPr lang="en-IN" dirty="0" err="1"/>
              <a:t>http.build</a:t>
            </a:r>
            <a:r>
              <a:rPr lang="en-IN" dirty="0"/>
              <a:t>();</a:t>
            </a:r>
          </a:p>
          <a:p>
            <a:pPr marL="457200" lvl="1" indent="0">
              <a:buNone/>
            </a:pPr>
            <a:r>
              <a:rPr lang="en-IN" dirty="0"/>
              <a:t>}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450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47F58-1AEE-2FA3-C75C-E691BC7F1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Config-H2 Specific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68DFD-C9ED-3FFE-5EF5-F1148B2FF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IN" dirty="0"/>
              <a:t>@Bean</a:t>
            </a:r>
          </a:p>
          <a:p>
            <a:pPr marL="457200" lvl="1" indent="0">
              <a:buNone/>
            </a:pPr>
            <a:r>
              <a:rPr lang="en-IN" dirty="0" err="1"/>
              <a:t>SecurityFilterChain</a:t>
            </a:r>
            <a:r>
              <a:rPr lang="en-IN" dirty="0"/>
              <a:t> </a:t>
            </a:r>
            <a:r>
              <a:rPr lang="en-IN" dirty="0" err="1"/>
              <a:t>securityFilterChain</a:t>
            </a:r>
            <a:r>
              <a:rPr lang="en-IN" dirty="0"/>
              <a:t>(HttpSecurity http) </a:t>
            </a:r>
            <a:r>
              <a:rPr lang="en-IN" b="1" dirty="0"/>
              <a:t>throws</a:t>
            </a:r>
            <a:r>
              <a:rPr lang="en-IN" dirty="0"/>
              <a:t> Exception {</a:t>
            </a:r>
          </a:p>
          <a:p>
            <a:pPr marL="457200" lvl="1" indent="0">
              <a:buNone/>
            </a:pPr>
            <a:r>
              <a:rPr lang="en-IN" dirty="0"/>
              <a:t>http</a:t>
            </a:r>
          </a:p>
          <a:p>
            <a:pPr marL="457200" lvl="1" indent="0">
              <a:buNone/>
            </a:pPr>
            <a:r>
              <a:rPr lang="en-IN" dirty="0"/>
              <a:t>.</a:t>
            </a:r>
            <a:r>
              <a:rPr lang="en-IN" dirty="0" err="1"/>
              <a:t>csrf</a:t>
            </a:r>
            <a:r>
              <a:rPr lang="en-IN" dirty="0"/>
              <a:t>(</a:t>
            </a:r>
            <a:r>
              <a:rPr lang="en-IN" dirty="0" err="1"/>
              <a:t>csrf</a:t>
            </a:r>
            <a:r>
              <a:rPr lang="en-IN" dirty="0"/>
              <a:t> -&gt; </a:t>
            </a:r>
            <a:r>
              <a:rPr lang="en-IN" dirty="0" err="1"/>
              <a:t>csrf.disable</a:t>
            </a:r>
            <a:r>
              <a:rPr lang="en-IN" dirty="0"/>
              <a:t>()) </a:t>
            </a:r>
          </a:p>
          <a:p>
            <a:pPr marL="457200" lvl="1" indent="0">
              <a:buNone/>
            </a:pPr>
            <a:r>
              <a:rPr lang="en-IN" dirty="0"/>
              <a:t>.</a:t>
            </a:r>
            <a:r>
              <a:rPr lang="en-IN" dirty="0" err="1"/>
              <a:t>authorizeHttpRequests</a:t>
            </a:r>
            <a:r>
              <a:rPr lang="en-IN" dirty="0"/>
              <a:t>(auth -&gt; auth</a:t>
            </a:r>
          </a:p>
          <a:p>
            <a:pPr marL="457200" lvl="1" indent="0">
              <a:buNone/>
            </a:pPr>
            <a:r>
              <a:rPr lang="en-IN" b="1" dirty="0">
                <a:solidFill>
                  <a:srgbClr val="0070C0"/>
                </a:solidFill>
              </a:rPr>
              <a:t>.</a:t>
            </a:r>
            <a:r>
              <a:rPr lang="en-IN" b="1" dirty="0" err="1">
                <a:solidFill>
                  <a:srgbClr val="0070C0"/>
                </a:solidFill>
              </a:rPr>
              <a:t>requestMatchers</a:t>
            </a:r>
            <a:r>
              <a:rPr lang="en-IN" b="1" dirty="0">
                <a:solidFill>
                  <a:srgbClr val="0070C0"/>
                </a:solidFill>
              </a:rPr>
              <a:t>(PathRequest.</a:t>
            </a:r>
            <a:r>
              <a:rPr lang="en-IN" b="1" i="1" dirty="0">
                <a:solidFill>
                  <a:srgbClr val="0070C0"/>
                </a:solidFill>
              </a:rPr>
              <a:t>toH2Console</a:t>
            </a:r>
            <a:r>
              <a:rPr lang="en-IN" b="1" dirty="0">
                <a:solidFill>
                  <a:srgbClr val="0070C0"/>
                </a:solidFill>
              </a:rPr>
              <a:t>()).</a:t>
            </a:r>
            <a:r>
              <a:rPr lang="en-IN" b="1" dirty="0" err="1">
                <a:solidFill>
                  <a:srgbClr val="0070C0"/>
                </a:solidFill>
              </a:rPr>
              <a:t>permitAll</a:t>
            </a:r>
            <a:r>
              <a:rPr lang="en-IN" b="1" dirty="0">
                <a:solidFill>
                  <a:srgbClr val="0070C0"/>
                </a:solidFill>
              </a:rPr>
              <a:t>() </a:t>
            </a:r>
          </a:p>
          <a:p>
            <a:pPr marL="457200" lvl="1" indent="0">
              <a:buNone/>
            </a:pPr>
            <a:r>
              <a:rPr lang="en-IN" dirty="0"/>
              <a:t>.</a:t>
            </a:r>
            <a:r>
              <a:rPr lang="en-IN" dirty="0" err="1"/>
              <a:t>requestMatchers</a:t>
            </a:r>
            <a:r>
              <a:rPr lang="en-IN" dirty="0"/>
              <a:t>("/</a:t>
            </a:r>
            <a:r>
              <a:rPr lang="en-IN" dirty="0" err="1"/>
              <a:t>api</a:t>
            </a:r>
            <a:r>
              <a:rPr lang="en-IN" dirty="0"/>
              <a:t>/v1/auth/**").</a:t>
            </a:r>
            <a:r>
              <a:rPr lang="en-IN" dirty="0" err="1"/>
              <a:t>permitAll</a:t>
            </a:r>
            <a:r>
              <a:rPr lang="en-IN" dirty="0"/>
              <a:t>()</a:t>
            </a:r>
          </a:p>
          <a:p>
            <a:pPr marL="457200" lvl="1" indent="0">
              <a:buNone/>
            </a:pPr>
            <a:r>
              <a:rPr lang="en-IN" dirty="0"/>
              <a:t>.</a:t>
            </a:r>
            <a:r>
              <a:rPr lang="en-IN" dirty="0" err="1"/>
              <a:t>requestMatchers</a:t>
            </a:r>
            <a:r>
              <a:rPr lang="en-IN" dirty="0"/>
              <a:t>("/admin/**").</a:t>
            </a:r>
            <a:r>
              <a:rPr lang="en-IN" dirty="0" err="1"/>
              <a:t>hasRole</a:t>
            </a:r>
            <a:r>
              <a:rPr lang="en-IN" dirty="0"/>
              <a:t>("ADMIN")</a:t>
            </a:r>
          </a:p>
          <a:p>
            <a:pPr marL="457200" lvl="1" indent="0">
              <a:buNone/>
            </a:pPr>
            <a:r>
              <a:rPr lang="en-IN" dirty="0"/>
              <a:t>.</a:t>
            </a:r>
            <a:r>
              <a:rPr lang="en-IN" dirty="0" err="1"/>
              <a:t>anyRequest</a:t>
            </a:r>
            <a:r>
              <a:rPr lang="en-IN" dirty="0"/>
              <a:t>().authenticated()</a:t>
            </a:r>
          </a:p>
          <a:p>
            <a:pPr marL="457200" lvl="1" indent="0">
              <a:buNone/>
            </a:pPr>
            <a:r>
              <a:rPr lang="en-IN" dirty="0"/>
              <a:t>)</a:t>
            </a:r>
          </a:p>
          <a:p>
            <a:pPr marL="457200" lvl="1" indent="0">
              <a:buNone/>
            </a:pPr>
            <a:r>
              <a:rPr lang="en-IN" b="1" dirty="0">
                <a:solidFill>
                  <a:srgbClr val="0070C0"/>
                </a:solidFill>
              </a:rPr>
              <a:t>.headers(headers -&gt; headers</a:t>
            </a:r>
          </a:p>
          <a:p>
            <a:pPr marL="457200" lvl="1" indent="0">
              <a:buNone/>
            </a:pPr>
            <a:r>
              <a:rPr lang="en-IN" b="1" dirty="0">
                <a:solidFill>
                  <a:srgbClr val="0070C0"/>
                </a:solidFill>
              </a:rPr>
              <a:t>.</a:t>
            </a:r>
            <a:r>
              <a:rPr lang="en-IN" b="1" dirty="0" err="1">
                <a:solidFill>
                  <a:srgbClr val="0070C0"/>
                </a:solidFill>
              </a:rPr>
              <a:t>frameOptions</a:t>
            </a:r>
            <a:r>
              <a:rPr lang="en-IN" b="1" dirty="0">
                <a:solidFill>
                  <a:srgbClr val="0070C0"/>
                </a:solidFill>
              </a:rPr>
              <a:t>(frame -&gt; </a:t>
            </a:r>
            <a:r>
              <a:rPr lang="en-IN" b="1" dirty="0" err="1">
                <a:solidFill>
                  <a:srgbClr val="0070C0"/>
                </a:solidFill>
              </a:rPr>
              <a:t>frame.sameOrigin</a:t>
            </a:r>
            <a:r>
              <a:rPr lang="en-IN" b="1" dirty="0">
                <a:solidFill>
                  <a:srgbClr val="0070C0"/>
                </a:solidFill>
              </a:rPr>
              <a:t>()) </a:t>
            </a:r>
          </a:p>
          <a:p>
            <a:pPr marL="457200" lvl="1" indent="0">
              <a:buNone/>
            </a:pPr>
            <a:r>
              <a:rPr lang="en-IN" b="1" dirty="0">
                <a:solidFill>
                  <a:srgbClr val="0070C0"/>
                </a:solidFill>
              </a:rPr>
              <a:t>)</a:t>
            </a:r>
          </a:p>
          <a:p>
            <a:pPr marL="457200" lvl="1" indent="0">
              <a:buNone/>
            </a:pPr>
            <a:r>
              <a:rPr lang="en-IN" dirty="0"/>
              <a:t>.</a:t>
            </a:r>
            <a:r>
              <a:rPr lang="en-IN" dirty="0" err="1"/>
              <a:t>httpBasic</a:t>
            </a:r>
            <a:r>
              <a:rPr lang="en-IN" dirty="0"/>
              <a:t>(</a:t>
            </a:r>
            <a:r>
              <a:rPr lang="en-IN" dirty="0" err="1"/>
              <a:t>Customizer.</a:t>
            </a:r>
            <a:r>
              <a:rPr lang="en-IN" i="1" dirty="0" err="1"/>
              <a:t>withDefaults</a:t>
            </a:r>
            <a:r>
              <a:rPr lang="en-IN" dirty="0"/>
              <a:t>());</a:t>
            </a:r>
          </a:p>
          <a:p>
            <a:pPr marL="457200" lvl="1" indent="0">
              <a:buNone/>
            </a:pPr>
            <a:r>
              <a:rPr lang="en-IN" b="1" dirty="0"/>
              <a:t>return</a:t>
            </a:r>
            <a:r>
              <a:rPr lang="en-IN" dirty="0"/>
              <a:t> </a:t>
            </a:r>
            <a:r>
              <a:rPr lang="en-IN" dirty="0" err="1"/>
              <a:t>http.build</a:t>
            </a:r>
            <a:r>
              <a:rPr lang="en-IN" dirty="0"/>
              <a:t>();</a:t>
            </a:r>
          </a:p>
          <a:p>
            <a:pPr marL="457200" lvl="1" indent="0">
              <a:buNone/>
            </a:pPr>
            <a:r>
              <a:rPr lang="en-IN" dirty="0"/>
              <a:t>}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86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DA5F2-8B7C-B42E-8956-D834A4074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Level Annotation-SPEL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BFABF-6289-CCD0-CA06-F682BCEC4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8364"/>
            <a:ext cx="8229600" cy="5257800"/>
          </a:xfrm>
        </p:spPr>
        <p:txBody>
          <a:bodyPr/>
          <a:lstStyle/>
          <a:p>
            <a:r>
              <a:rPr lang="en-IN" sz="1800" dirty="0"/>
              <a:t>@</a:t>
            </a:r>
            <a:r>
              <a:rPr lang="en-IN" sz="1800" dirty="0" err="1"/>
              <a:t>EnableMethodSecurity</a:t>
            </a:r>
            <a:endParaRPr lang="en-IN" sz="1800" dirty="0"/>
          </a:p>
          <a:p>
            <a:pPr lvl="1"/>
            <a:r>
              <a:rPr lang="en-IN" sz="1800" dirty="0"/>
              <a:t>Restricting access to specific methods </a:t>
            </a:r>
          </a:p>
          <a:p>
            <a:pPr lvl="1"/>
            <a:r>
              <a:rPr lang="en-IN" sz="1800" dirty="0"/>
              <a:t>To ensure that only authorized users can perform critical operations.</a:t>
            </a:r>
            <a:br>
              <a:rPr lang="en-IN" sz="1800" dirty="0"/>
            </a:br>
            <a:endParaRPr lang="en-IN" sz="1800" dirty="0"/>
          </a:p>
          <a:p>
            <a:r>
              <a:rPr lang="en-IN" sz="1800" dirty="0"/>
              <a:t>@</a:t>
            </a:r>
            <a:r>
              <a:rPr lang="en-IN" sz="1800" dirty="0" err="1"/>
              <a:t>PreAuthorize</a:t>
            </a:r>
            <a:endParaRPr lang="en-IN" sz="1800" dirty="0"/>
          </a:p>
          <a:p>
            <a:pPr lvl="1"/>
            <a:r>
              <a:rPr lang="en-IN" sz="1800" dirty="0"/>
              <a:t>Access control is evaluated prior to method invocation. </a:t>
            </a:r>
          </a:p>
          <a:p>
            <a:pPr lvl="1"/>
            <a:r>
              <a:rPr lang="en-IN" sz="1800" dirty="0"/>
              <a:t>It leverages Spring Expression Language (</a:t>
            </a:r>
            <a:r>
              <a:rPr lang="en-IN" sz="1800" dirty="0" err="1"/>
              <a:t>SpEL</a:t>
            </a:r>
            <a:r>
              <a:rPr lang="en-IN" sz="1800" dirty="0"/>
              <a:t>) expressions </a:t>
            </a:r>
          </a:p>
          <a:p>
            <a:pPr lvl="1"/>
            <a:r>
              <a:rPr lang="en-IN" sz="1800" dirty="0"/>
              <a:t>Dynamically determine access permissions.</a:t>
            </a:r>
          </a:p>
          <a:p>
            <a:pPr marL="400050" lvl="1" indent="0">
              <a:buNone/>
            </a:pPr>
            <a:r>
              <a:rPr lang="en-IN" sz="1800" i="1" dirty="0">
                <a:solidFill>
                  <a:srgbClr val="0070C0"/>
                </a:solidFill>
              </a:rPr>
              <a:t>@</a:t>
            </a:r>
            <a:r>
              <a:rPr lang="en-IN" sz="1800" i="1" dirty="0" err="1">
                <a:solidFill>
                  <a:srgbClr val="0070C0"/>
                </a:solidFill>
              </a:rPr>
              <a:t>PreAuthorize</a:t>
            </a:r>
            <a:r>
              <a:rPr lang="en-IN" sz="1800" i="1" dirty="0">
                <a:solidFill>
                  <a:srgbClr val="0070C0"/>
                </a:solidFill>
              </a:rPr>
              <a:t>("</a:t>
            </a:r>
            <a:r>
              <a:rPr lang="en-IN" sz="1800" i="1" dirty="0" err="1">
                <a:solidFill>
                  <a:srgbClr val="0070C0"/>
                </a:solidFill>
              </a:rPr>
              <a:t>hasRole</a:t>
            </a:r>
            <a:r>
              <a:rPr lang="en-IN" sz="1800" i="1" dirty="0">
                <a:solidFill>
                  <a:srgbClr val="0070C0"/>
                </a:solidFill>
              </a:rPr>
              <a:t>('ADMIN')") </a:t>
            </a:r>
          </a:p>
          <a:p>
            <a:pPr marL="400050" lvl="1" indent="0">
              <a:buNone/>
            </a:pPr>
            <a:r>
              <a:rPr lang="en-IN" sz="1800" i="1" dirty="0">
                <a:solidFill>
                  <a:srgbClr val="0070C0"/>
                </a:solidFill>
              </a:rPr>
              <a:t>@</a:t>
            </a:r>
            <a:r>
              <a:rPr lang="en-IN" sz="1800" i="1" dirty="0" err="1">
                <a:solidFill>
                  <a:srgbClr val="0070C0"/>
                </a:solidFill>
              </a:rPr>
              <a:t>PreAuthorize</a:t>
            </a:r>
            <a:r>
              <a:rPr lang="en-IN" sz="1800" i="1" dirty="0">
                <a:solidFill>
                  <a:srgbClr val="0070C0"/>
                </a:solidFill>
              </a:rPr>
              <a:t>("#id == </a:t>
            </a:r>
            <a:r>
              <a:rPr lang="en-IN" sz="1800" i="1" dirty="0" err="1">
                <a:solidFill>
                  <a:srgbClr val="0070C0"/>
                </a:solidFill>
              </a:rPr>
              <a:t>authentication.principal.id</a:t>
            </a:r>
            <a:r>
              <a:rPr lang="en-IN" sz="1800" i="1" dirty="0">
                <a:solidFill>
                  <a:srgbClr val="0070C0"/>
                </a:solidFill>
              </a:rPr>
              <a:t>").</a:t>
            </a:r>
          </a:p>
          <a:p>
            <a:r>
              <a:rPr lang="en-IN" sz="1800" dirty="0"/>
              <a:t>@</a:t>
            </a:r>
            <a:r>
              <a:rPr lang="en-IN" sz="1800" dirty="0" err="1"/>
              <a:t>PostAuthorize</a:t>
            </a:r>
            <a:endParaRPr lang="en-IN" dirty="0"/>
          </a:p>
          <a:p>
            <a:pPr lvl="1"/>
            <a:r>
              <a:rPr lang="en-IN" sz="1800" dirty="0"/>
              <a:t>Evaluates an expression </a:t>
            </a:r>
            <a:r>
              <a:rPr lang="en-IN" sz="1800" b="1" dirty="0"/>
              <a:t>after</a:t>
            </a:r>
            <a:r>
              <a:rPr lang="en-IN" sz="1800" dirty="0"/>
              <a:t> the method executes</a:t>
            </a:r>
          </a:p>
          <a:p>
            <a:pPr lvl="1"/>
            <a:r>
              <a:rPr lang="en-IN" sz="1800" dirty="0"/>
              <a:t>Used to check the returned object.</a:t>
            </a:r>
          </a:p>
          <a:p>
            <a:pPr marL="400050" lvl="1" indent="0">
              <a:buNone/>
            </a:pPr>
            <a:r>
              <a:rPr lang="en-IN" sz="1800" i="1" dirty="0">
                <a:solidFill>
                  <a:srgbClr val="0070C0"/>
                </a:solidFill>
              </a:rPr>
              <a:t>@</a:t>
            </a:r>
            <a:r>
              <a:rPr lang="en-IN" sz="1800" i="1" dirty="0" err="1">
                <a:solidFill>
                  <a:srgbClr val="0070C0"/>
                </a:solidFill>
              </a:rPr>
              <a:t>PostAuthorize</a:t>
            </a:r>
            <a:r>
              <a:rPr lang="en-IN" sz="1800" i="1" dirty="0">
                <a:solidFill>
                  <a:srgbClr val="0070C0"/>
                </a:solidFill>
              </a:rPr>
              <a:t>("</a:t>
            </a:r>
            <a:r>
              <a:rPr lang="en-IN" sz="1800" i="1" dirty="0" err="1">
                <a:solidFill>
                  <a:srgbClr val="0070C0"/>
                </a:solidFill>
              </a:rPr>
              <a:t>returnObject.owner</a:t>
            </a:r>
            <a:r>
              <a:rPr lang="en-IN" sz="1800" i="1" dirty="0">
                <a:solidFill>
                  <a:srgbClr val="0070C0"/>
                </a:solidFill>
              </a:rPr>
              <a:t> == </a:t>
            </a:r>
            <a:r>
              <a:rPr lang="en-IN" sz="1800" i="1" dirty="0" err="1">
                <a:solidFill>
                  <a:srgbClr val="0070C0"/>
                </a:solidFill>
              </a:rPr>
              <a:t>authentication.name</a:t>
            </a:r>
            <a:r>
              <a:rPr lang="en-IN" sz="1800" i="1" dirty="0">
                <a:solidFill>
                  <a:srgbClr val="0070C0"/>
                </a:solidFill>
              </a:rPr>
              <a:t>").</a:t>
            </a:r>
          </a:p>
          <a:p>
            <a:pPr marL="400050" lvl="1" indent="0">
              <a:buNone/>
            </a:pPr>
            <a:endParaRPr lang="en-IN" sz="1800" i="1" dirty="0">
              <a:solidFill>
                <a:srgbClr val="0070C0"/>
              </a:solidFill>
            </a:endParaRPr>
          </a:p>
          <a:p>
            <a:pPr marL="0" indent="0">
              <a:buNone/>
            </a:pPr>
            <a:br>
              <a:rPr lang="en-IN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81274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70EBF7AE-1F6A-104D-9E42-63AF95D7AE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CSRF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A5459-58ED-B0AB-8FBC-1D7E91E2C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Its a web security vulnerability that allows an attacker to induce users to perform actions that they do not intend to perform. </a:t>
            </a:r>
          </a:p>
          <a:p>
            <a:pPr>
              <a:defRPr/>
            </a:pPr>
            <a:endParaRPr lang="en-US" sz="2000" dirty="0"/>
          </a:p>
          <a:p>
            <a:pPr lvl="1">
              <a:defRPr/>
            </a:pPr>
            <a:r>
              <a:rPr lang="en-US" sz="2000" dirty="0">
                <a:ea typeface="+mn-ea"/>
                <a:cs typeface="+mn-cs"/>
              </a:rPr>
              <a:t>It allows an attacker to partly circumvent the same origin policy, which is designed to prevent different websites from interfering with each other.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Should be used for protecting  any request that could be processed by a browser by normal users. 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b="1" i="1" dirty="0"/>
              <a:t>If a service is used by non-browser clients, CSRF protection can be disabled</a:t>
            </a:r>
          </a:p>
          <a:p>
            <a:pPr>
              <a:buFontTx/>
              <a:buNone/>
              <a:defRPr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64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D5316036-ACD7-4205-870E-E69018A98B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Entity and Repository</a:t>
            </a:r>
            <a:endParaRPr lang="en-IN" altLang="en-US" dirty="0"/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11CA0B9B-24F1-E969-D433-1BDC3F97CF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868364"/>
            <a:ext cx="8229600" cy="5257800"/>
          </a:xfrm>
        </p:spPr>
        <p:txBody>
          <a:bodyPr/>
          <a:lstStyle/>
          <a:p>
            <a:pPr marL="457200" lvl="1" indent="0">
              <a:buNone/>
            </a:pPr>
            <a:r>
              <a:rPr lang="en-IN" sz="1800" dirty="0"/>
              <a:t>@Entity</a:t>
            </a:r>
          </a:p>
          <a:p>
            <a:pPr marL="457200" lvl="1" indent="0">
              <a:buNone/>
            </a:pPr>
            <a:r>
              <a:rPr lang="en-IN" sz="1800" dirty="0"/>
              <a:t>@Table(name = "user")</a:t>
            </a:r>
          </a:p>
          <a:p>
            <a:pPr marL="457200" lvl="1" indent="0">
              <a:buNone/>
            </a:pPr>
            <a:r>
              <a:rPr lang="en-IN" sz="1800" b="1" dirty="0"/>
              <a:t>public</a:t>
            </a:r>
            <a:r>
              <a:rPr lang="en-IN" sz="1800" dirty="0"/>
              <a:t> </a:t>
            </a:r>
            <a:r>
              <a:rPr lang="en-IN" sz="1800" b="1" dirty="0"/>
              <a:t>class</a:t>
            </a:r>
            <a:r>
              <a:rPr lang="en-IN" sz="1800" dirty="0"/>
              <a:t> </a:t>
            </a:r>
            <a:r>
              <a:rPr lang="en-IN" sz="1800" dirty="0" err="1"/>
              <a:t>UserEntity</a:t>
            </a:r>
            <a:r>
              <a:rPr lang="en-IN" sz="1800" dirty="0"/>
              <a:t> {</a:t>
            </a:r>
          </a:p>
          <a:p>
            <a:pPr marL="457200" lvl="1" indent="0">
              <a:buNone/>
            </a:pPr>
            <a:r>
              <a:rPr lang="en-IN" sz="1800" dirty="0"/>
              <a:t>@Id</a:t>
            </a:r>
          </a:p>
          <a:p>
            <a:pPr marL="457200" lvl="1" indent="0">
              <a:buNone/>
            </a:pPr>
            <a:r>
              <a:rPr lang="en-IN" sz="1800" dirty="0"/>
              <a:t>@</a:t>
            </a:r>
            <a:r>
              <a:rPr lang="en-IN" sz="1800" dirty="0" err="1"/>
              <a:t>GeneratedValue</a:t>
            </a:r>
            <a:r>
              <a:rPr lang="en-IN" sz="1800" dirty="0"/>
              <a:t>(strategy = </a:t>
            </a:r>
            <a:r>
              <a:rPr lang="en-IN" sz="1800" dirty="0" err="1"/>
              <a:t>GenerationType.</a:t>
            </a:r>
            <a:r>
              <a:rPr lang="en-IN" sz="1800" b="1" i="1" dirty="0" err="1"/>
              <a:t>IDENTITY</a:t>
            </a:r>
            <a:r>
              <a:rPr lang="en-IN" sz="1800" dirty="0"/>
              <a:t>)</a:t>
            </a:r>
          </a:p>
          <a:p>
            <a:pPr marL="457200" lvl="1" indent="0">
              <a:buNone/>
            </a:pPr>
            <a:r>
              <a:rPr lang="en-IN" sz="1800" b="1" dirty="0"/>
              <a:t>private</a:t>
            </a:r>
            <a:r>
              <a:rPr lang="en-IN" sz="1800" dirty="0"/>
              <a:t> Long id;</a:t>
            </a:r>
          </a:p>
          <a:p>
            <a:pPr marL="457200" lvl="1" indent="0">
              <a:buNone/>
            </a:pPr>
            <a:r>
              <a:rPr lang="en-IN" sz="1800" b="1" dirty="0"/>
              <a:t>private</a:t>
            </a:r>
            <a:r>
              <a:rPr lang="en-IN" sz="1800" dirty="0"/>
              <a:t> String username;</a:t>
            </a:r>
          </a:p>
          <a:p>
            <a:pPr marL="457200" lvl="1" indent="0">
              <a:buNone/>
            </a:pPr>
            <a:r>
              <a:rPr lang="en-IN" sz="1800" b="1" dirty="0"/>
              <a:t>private</a:t>
            </a:r>
            <a:r>
              <a:rPr lang="en-IN" sz="1800" dirty="0"/>
              <a:t> String password;</a:t>
            </a:r>
          </a:p>
          <a:p>
            <a:pPr marL="457200" lvl="1" indent="0">
              <a:buNone/>
            </a:pPr>
            <a:r>
              <a:rPr lang="en-IN" sz="1800" b="1" dirty="0"/>
              <a:t>private</a:t>
            </a:r>
            <a:r>
              <a:rPr lang="en-IN" sz="1800" dirty="0"/>
              <a:t> String role;</a:t>
            </a:r>
          </a:p>
          <a:p>
            <a:pPr marL="800100" lvl="2" indent="0">
              <a:buNone/>
            </a:pPr>
            <a:r>
              <a:rPr lang="en-IN" sz="1800" b="1" dirty="0"/>
              <a:t>}</a:t>
            </a:r>
          </a:p>
          <a:p>
            <a:pPr marL="400050" lvl="1" indent="0">
              <a:buNone/>
            </a:pPr>
            <a:r>
              <a:rPr lang="en-IN" sz="1800" b="1" dirty="0">
                <a:latin typeface="Arial" panose="020B0604020202020204" pitchFamily="34" charset="0"/>
              </a:rPr>
              <a:t>public</a:t>
            </a:r>
            <a:r>
              <a:rPr lang="en-IN" sz="1800" dirty="0">
                <a:latin typeface="Arial" panose="020B0604020202020204" pitchFamily="34" charset="0"/>
              </a:rPr>
              <a:t> </a:t>
            </a:r>
            <a:r>
              <a:rPr lang="en-IN" sz="1800" b="1" dirty="0">
                <a:latin typeface="Arial" panose="020B0604020202020204" pitchFamily="34" charset="0"/>
              </a:rPr>
              <a:t>interface</a:t>
            </a:r>
            <a:r>
              <a:rPr lang="en-IN" sz="1800" dirty="0">
                <a:latin typeface="Arial" panose="020B0604020202020204" pitchFamily="34" charset="0"/>
              </a:rPr>
              <a:t> </a:t>
            </a:r>
            <a:r>
              <a:rPr lang="en-IN" sz="1800" dirty="0" err="1">
                <a:latin typeface="Arial" panose="020B0604020202020204" pitchFamily="34" charset="0"/>
              </a:rPr>
              <a:t>UserRepository</a:t>
            </a:r>
            <a:r>
              <a:rPr lang="en-IN" sz="1800" dirty="0">
                <a:latin typeface="Arial" panose="020B0604020202020204" pitchFamily="34" charset="0"/>
              </a:rPr>
              <a:t> </a:t>
            </a:r>
            <a:r>
              <a:rPr lang="en-IN" sz="1800" b="1" dirty="0">
                <a:latin typeface="Arial" panose="020B0604020202020204" pitchFamily="34" charset="0"/>
              </a:rPr>
              <a:t>extends </a:t>
            </a:r>
            <a:r>
              <a:rPr lang="en-IN" sz="1800" dirty="0" err="1">
                <a:latin typeface="Arial" panose="020B0604020202020204" pitchFamily="34" charset="0"/>
              </a:rPr>
              <a:t>JpaRepository</a:t>
            </a:r>
            <a:r>
              <a:rPr lang="en-IN" sz="1800" dirty="0">
                <a:latin typeface="Arial" panose="020B0604020202020204" pitchFamily="34" charset="0"/>
              </a:rPr>
              <a:t>&lt;</a:t>
            </a:r>
            <a:r>
              <a:rPr lang="en-IN" sz="1800" dirty="0" err="1">
                <a:latin typeface="Arial" panose="020B0604020202020204" pitchFamily="34" charset="0"/>
              </a:rPr>
              <a:t>UserEntity</a:t>
            </a:r>
            <a:r>
              <a:rPr lang="en-IN" sz="1800" dirty="0">
                <a:latin typeface="Arial" panose="020B0604020202020204" pitchFamily="34" charset="0"/>
              </a:rPr>
              <a:t> ,Long&gt; {</a:t>
            </a:r>
          </a:p>
          <a:p>
            <a:pPr marL="400050" lvl="1" indent="0">
              <a:buNone/>
            </a:pPr>
            <a:endParaRPr lang="en-IN" sz="1800" dirty="0">
              <a:latin typeface="Arial" panose="020B0604020202020204" pitchFamily="34" charset="0"/>
            </a:endParaRPr>
          </a:p>
          <a:p>
            <a:pPr marL="400050" lvl="1" indent="0">
              <a:buNone/>
            </a:pPr>
            <a:r>
              <a:rPr lang="en-IN" sz="1800" dirty="0">
                <a:latin typeface="Arial" panose="020B0604020202020204" pitchFamily="34" charset="0"/>
              </a:rPr>
              <a:t>  Optional&lt;</a:t>
            </a:r>
            <a:r>
              <a:rPr lang="en-IN" sz="1800" dirty="0" err="1">
                <a:latin typeface="Arial" panose="020B0604020202020204" pitchFamily="34" charset="0"/>
              </a:rPr>
              <a:t>UserEntity</a:t>
            </a:r>
            <a:r>
              <a:rPr lang="en-IN" sz="1800" dirty="0">
                <a:latin typeface="Arial" panose="020B0604020202020204" pitchFamily="34" charset="0"/>
              </a:rPr>
              <a:t>&gt; </a:t>
            </a:r>
            <a:r>
              <a:rPr lang="en-IN" sz="1800" dirty="0" err="1">
                <a:latin typeface="Arial" panose="020B0604020202020204" pitchFamily="34" charset="0"/>
              </a:rPr>
              <a:t>findByUsername</a:t>
            </a:r>
            <a:r>
              <a:rPr lang="en-IN" sz="1800" dirty="0">
                <a:latin typeface="Arial" panose="020B0604020202020204" pitchFamily="34" charset="0"/>
              </a:rPr>
              <a:t>(String username);</a:t>
            </a:r>
          </a:p>
          <a:p>
            <a:pPr marL="400050" lvl="1" indent="0">
              <a:buNone/>
            </a:pPr>
            <a:r>
              <a:rPr lang="en-IN" sz="1800" dirty="0">
                <a:latin typeface="Arial" panose="020B0604020202020204" pitchFamily="34" charset="0"/>
              </a:rPr>
              <a:t>}</a:t>
            </a:r>
          </a:p>
          <a:p>
            <a:endParaRPr lang="en-IN" alt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4F9A8-BFD9-F1D1-CCE1-FB4BF01BF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Details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59225-D544-4D48-86DF-93FE2ED4E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/>
              <a:t>Key Interface used for user authentication. </a:t>
            </a:r>
          </a:p>
          <a:p>
            <a:r>
              <a:rPr lang="en-IN" sz="1800" dirty="0"/>
              <a:t>Has One Method</a:t>
            </a:r>
          </a:p>
          <a:p>
            <a:endParaRPr lang="en-IN" sz="1800" dirty="0"/>
          </a:p>
          <a:p>
            <a:pPr marL="457200" lvl="1" indent="0">
              <a:buNone/>
            </a:pPr>
            <a:r>
              <a:rPr lang="en-IN" sz="1800" dirty="0" err="1">
                <a:solidFill>
                  <a:srgbClr val="C00000"/>
                </a:solidFill>
              </a:rPr>
              <a:t>UserDetails</a:t>
            </a:r>
            <a:r>
              <a:rPr lang="en-IN" sz="1800" dirty="0">
                <a:solidFill>
                  <a:srgbClr val="C00000"/>
                </a:solidFill>
              </a:rPr>
              <a:t> </a:t>
            </a:r>
            <a:r>
              <a:rPr lang="en-IN" sz="1800" dirty="0" err="1">
                <a:solidFill>
                  <a:srgbClr val="C00000"/>
                </a:solidFill>
              </a:rPr>
              <a:t>loadUserByUsername</a:t>
            </a:r>
            <a:r>
              <a:rPr lang="en-IN" sz="1800" dirty="0">
                <a:solidFill>
                  <a:srgbClr val="C00000"/>
                </a:solidFill>
              </a:rPr>
              <a:t>(String username) </a:t>
            </a:r>
          </a:p>
          <a:p>
            <a:endParaRPr lang="en-IN" sz="1800" b="1" dirty="0"/>
          </a:p>
          <a:p>
            <a:r>
              <a:rPr lang="en-IN" sz="1800" dirty="0"/>
              <a:t> </a:t>
            </a:r>
            <a:r>
              <a:rPr lang="en-IN" sz="1800" dirty="0" err="1"/>
              <a:t>UserDetails</a:t>
            </a:r>
            <a:r>
              <a:rPr lang="en-IN" sz="1800" dirty="0"/>
              <a:t> </a:t>
            </a:r>
          </a:p>
          <a:p>
            <a:pPr lvl="1"/>
            <a:r>
              <a:rPr lang="en-IN" sz="2000" dirty="0"/>
              <a:t>Encapsulates username, password, authorities (roles), and account status (enabled, locked, expired).</a:t>
            </a:r>
          </a:p>
          <a:p>
            <a:pPr marL="0" indent="0">
              <a:buNone/>
            </a:pPr>
            <a:endParaRPr lang="en-IN" sz="1800" dirty="0"/>
          </a:p>
          <a:p>
            <a:r>
              <a:rPr lang="en-IN" sz="1800" dirty="0"/>
              <a:t>Called by </a:t>
            </a:r>
            <a:r>
              <a:rPr lang="en-IN" sz="1800" dirty="0" err="1"/>
              <a:t>AuthenticationProvider</a:t>
            </a:r>
            <a:r>
              <a:rPr lang="en-IN" sz="1800" dirty="0"/>
              <a:t> to obtain the necessary user information for authentication.</a:t>
            </a:r>
          </a:p>
          <a:p>
            <a:endParaRPr lang="en-IN" sz="1800" dirty="0"/>
          </a:p>
          <a:p>
            <a:r>
              <a:rPr lang="en-IN" sz="1800" dirty="0"/>
              <a:t>Method should throw a </a:t>
            </a:r>
            <a:r>
              <a:rPr lang="en-IN" sz="1800" dirty="0" err="1"/>
              <a:t>UsernameNotFoundException</a:t>
            </a:r>
            <a:r>
              <a:rPr lang="en-IN" sz="1800" dirty="0"/>
              <a:t>.</a:t>
            </a:r>
            <a:br>
              <a:rPr lang="en-IN" sz="1800" dirty="0"/>
            </a:br>
            <a:endParaRPr lang="en-IN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73247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34780-826E-ED1C-0405-B5FA542B7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Details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AB0AD-2EB2-3811-CF8C-48F30D5C8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8364"/>
            <a:ext cx="8229600" cy="5257800"/>
          </a:xfrm>
        </p:spPr>
        <p:txBody>
          <a:bodyPr/>
          <a:lstStyle/>
          <a:p>
            <a:pPr marL="857250" lvl="2" indent="0">
              <a:buNone/>
            </a:pPr>
            <a:r>
              <a:rPr lang="en-IN" sz="1800" dirty="0"/>
              <a:t>@Service</a:t>
            </a:r>
          </a:p>
          <a:p>
            <a:pPr marL="857250" lvl="2" indent="0">
              <a:buNone/>
            </a:pPr>
            <a:endParaRPr lang="en-IN" sz="1800" dirty="0"/>
          </a:p>
          <a:p>
            <a:pPr marL="457200" lvl="1" indent="0">
              <a:buNone/>
            </a:pPr>
            <a:r>
              <a:rPr lang="en-IN" sz="2000" b="1" dirty="0"/>
              <a:t>public</a:t>
            </a:r>
            <a:r>
              <a:rPr lang="en-IN" sz="2000" dirty="0"/>
              <a:t> </a:t>
            </a:r>
            <a:r>
              <a:rPr lang="en-IN" sz="2000" b="1" dirty="0"/>
              <a:t>class</a:t>
            </a:r>
            <a:r>
              <a:rPr lang="en-IN" sz="2000" dirty="0"/>
              <a:t> </a:t>
            </a:r>
            <a:r>
              <a:rPr lang="en-IN" sz="2000" dirty="0" err="1"/>
              <a:t>UserDetailServiceImpl</a:t>
            </a:r>
            <a:r>
              <a:rPr lang="en-IN" sz="2000" dirty="0"/>
              <a:t> </a:t>
            </a:r>
            <a:r>
              <a:rPr lang="en-IN" sz="2000" b="1" dirty="0"/>
              <a:t>implements</a:t>
            </a:r>
            <a:r>
              <a:rPr lang="en-IN" sz="2000" dirty="0"/>
              <a:t>   	</a:t>
            </a:r>
            <a:r>
              <a:rPr lang="en-IN" sz="2000" dirty="0" err="1"/>
              <a:t>UserDetailsService</a:t>
            </a:r>
            <a:r>
              <a:rPr lang="en-IN" sz="2000" dirty="0"/>
              <a:t> {</a:t>
            </a:r>
            <a:endParaRPr lang="en-IN" sz="2000" b="1" dirty="0"/>
          </a:p>
          <a:p>
            <a:pPr marL="857250" lvl="2" indent="0">
              <a:buNone/>
            </a:pPr>
            <a:endParaRPr lang="en-IN" sz="1800" dirty="0"/>
          </a:p>
          <a:p>
            <a:pPr marL="457200" lvl="1" indent="0">
              <a:buNone/>
            </a:pPr>
            <a:r>
              <a:rPr lang="en-IN" sz="1800" b="1" dirty="0"/>
              <a:t>private</a:t>
            </a:r>
            <a:r>
              <a:rPr lang="en-IN" sz="1800" dirty="0"/>
              <a:t> </a:t>
            </a:r>
            <a:r>
              <a:rPr lang="en-IN" sz="1800" b="1" dirty="0"/>
              <a:t>final</a:t>
            </a:r>
            <a:r>
              <a:rPr lang="en-IN" sz="1800" dirty="0"/>
              <a:t> </a:t>
            </a:r>
            <a:r>
              <a:rPr lang="en-IN" sz="1800" dirty="0" err="1"/>
              <a:t>UserRepository</a:t>
            </a:r>
            <a:r>
              <a:rPr lang="en-IN" sz="1800" dirty="0"/>
              <a:t> </a:t>
            </a:r>
            <a:r>
              <a:rPr lang="en-IN" sz="1800" dirty="0" err="1"/>
              <a:t>userRepository</a:t>
            </a:r>
            <a:r>
              <a:rPr lang="en-IN" sz="1800" dirty="0"/>
              <a:t>;</a:t>
            </a:r>
          </a:p>
          <a:p>
            <a:pPr marL="457200" lvl="1" indent="0">
              <a:buNone/>
            </a:pPr>
            <a:r>
              <a:rPr lang="en-IN" sz="1800" b="1" dirty="0"/>
              <a:t>private</a:t>
            </a:r>
            <a:r>
              <a:rPr lang="en-IN" sz="1800" dirty="0"/>
              <a:t> </a:t>
            </a:r>
            <a:r>
              <a:rPr lang="en-IN" sz="1800" b="1" dirty="0"/>
              <a:t>final</a:t>
            </a:r>
            <a:r>
              <a:rPr lang="en-IN" sz="1800" dirty="0"/>
              <a:t> </a:t>
            </a:r>
            <a:r>
              <a:rPr lang="en-IN" sz="1800" dirty="0" err="1"/>
              <a:t>BCryptPasswordEncoder</a:t>
            </a:r>
            <a:r>
              <a:rPr lang="en-IN" sz="1800" dirty="0"/>
              <a:t> </a:t>
            </a:r>
            <a:r>
              <a:rPr lang="en-IN" sz="1800" dirty="0" err="1"/>
              <a:t>passwordEncoder</a:t>
            </a:r>
            <a:r>
              <a:rPr lang="en-IN" sz="1800" dirty="0"/>
              <a:t>;</a:t>
            </a:r>
          </a:p>
          <a:p>
            <a:pPr marL="457200" lvl="1" indent="0">
              <a:buNone/>
            </a:pPr>
            <a:br>
              <a:rPr lang="en-IN" sz="1800" dirty="0"/>
            </a:br>
            <a:endParaRPr lang="en-IN" sz="1800" dirty="0"/>
          </a:p>
          <a:p>
            <a:pPr marL="457200" lvl="1" indent="0">
              <a:buNone/>
            </a:pPr>
            <a:r>
              <a:rPr lang="en-IN" sz="1800" b="1" dirty="0"/>
              <a:t>public</a:t>
            </a:r>
            <a:r>
              <a:rPr lang="en-IN" sz="1800" dirty="0"/>
              <a:t> </a:t>
            </a:r>
            <a:r>
              <a:rPr lang="en-IN" sz="1800" dirty="0" err="1"/>
              <a:t>UserServiceImpl</a:t>
            </a:r>
            <a:r>
              <a:rPr lang="en-IN" sz="1800" dirty="0"/>
              <a:t>(</a:t>
            </a:r>
            <a:r>
              <a:rPr lang="en-IN" sz="1800" dirty="0" err="1"/>
              <a:t>UserRepository</a:t>
            </a:r>
            <a:r>
              <a:rPr lang="en-IN" sz="1800" dirty="0"/>
              <a:t> </a:t>
            </a:r>
            <a:r>
              <a:rPr lang="en-IN" sz="1800" dirty="0" err="1"/>
              <a:t>userRepository</a:t>
            </a:r>
            <a:r>
              <a:rPr lang="en-IN" sz="1800" dirty="0"/>
              <a:t>, </a:t>
            </a:r>
            <a:r>
              <a:rPr lang="en-IN" sz="1800" dirty="0" err="1"/>
              <a:t>BCryptPasswordEncoder</a:t>
            </a:r>
            <a:r>
              <a:rPr lang="en-IN" sz="1800" dirty="0"/>
              <a:t> </a:t>
            </a:r>
            <a:r>
              <a:rPr lang="en-IN" sz="1800" dirty="0" err="1"/>
              <a:t>passwordEncoder</a:t>
            </a:r>
            <a:r>
              <a:rPr lang="en-IN" sz="1800" dirty="0"/>
              <a:t>)  {</a:t>
            </a:r>
          </a:p>
          <a:p>
            <a:pPr marL="457200" lvl="1" indent="0">
              <a:buNone/>
            </a:pPr>
            <a:r>
              <a:rPr lang="en-IN" sz="1800" b="1" dirty="0" err="1"/>
              <a:t>this</a:t>
            </a:r>
            <a:r>
              <a:rPr lang="en-IN" sz="1800" dirty="0" err="1"/>
              <a:t>.userRepository</a:t>
            </a:r>
            <a:r>
              <a:rPr lang="en-IN" sz="1800" dirty="0"/>
              <a:t> = </a:t>
            </a:r>
            <a:r>
              <a:rPr lang="en-IN" sz="1800" dirty="0" err="1"/>
              <a:t>userRepository</a:t>
            </a:r>
            <a:r>
              <a:rPr lang="en-IN" sz="1800" dirty="0"/>
              <a:t>;</a:t>
            </a:r>
          </a:p>
          <a:p>
            <a:pPr marL="457200" lvl="1" indent="0">
              <a:buNone/>
            </a:pPr>
            <a:r>
              <a:rPr lang="en-IN" sz="1800" b="1" dirty="0" err="1"/>
              <a:t>this</a:t>
            </a:r>
            <a:r>
              <a:rPr lang="en-IN" sz="1800" dirty="0" err="1"/>
              <a:t>.passwordEncoder</a:t>
            </a:r>
            <a:r>
              <a:rPr lang="en-IN" sz="1800" dirty="0"/>
              <a:t> = </a:t>
            </a:r>
            <a:r>
              <a:rPr lang="en-IN" sz="1800" dirty="0" err="1"/>
              <a:t>passwordEncoder</a:t>
            </a:r>
            <a:r>
              <a:rPr lang="en-IN" sz="1800" dirty="0"/>
              <a:t>;</a:t>
            </a:r>
          </a:p>
          <a:p>
            <a:pPr marL="457200" lvl="1" indent="0">
              <a:buNone/>
            </a:pPr>
            <a:r>
              <a:rPr lang="en-IN" sz="1800" dirty="0"/>
              <a:t>}</a:t>
            </a:r>
          </a:p>
          <a:p>
            <a:pPr marL="914400" lvl="2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385127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0F025-DCAC-0FBE-BFC4-CB08FFFD6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427037"/>
          </a:xfrm>
        </p:spPr>
        <p:txBody>
          <a:bodyPr/>
          <a:lstStyle/>
          <a:p>
            <a:r>
              <a:rPr lang="en-US" dirty="0"/>
              <a:t>User Details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19574-51BC-47CE-CDCB-24765A274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31838"/>
            <a:ext cx="8229600" cy="5394326"/>
          </a:xfrm>
        </p:spPr>
        <p:txBody>
          <a:bodyPr/>
          <a:lstStyle/>
          <a:p>
            <a:pPr marL="457200" lvl="1" indent="0">
              <a:buNone/>
            </a:pPr>
            <a:r>
              <a:rPr lang="en-IN" b="1" dirty="0"/>
              <a:t>public</a:t>
            </a:r>
            <a:r>
              <a:rPr lang="en-IN" dirty="0"/>
              <a:t> </a:t>
            </a:r>
            <a:r>
              <a:rPr lang="en-IN" b="1" dirty="0"/>
              <a:t>void</a:t>
            </a:r>
            <a:r>
              <a:rPr lang="en-IN" dirty="0"/>
              <a:t> </a:t>
            </a:r>
            <a:r>
              <a:rPr lang="en-IN" dirty="0" err="1"/>
              <a:t>registerNewUser</a:t>
            </a:r>
            <a:r>
              <a:rPr lang="en-IN" dirty="0"/>
              <a:t>(</a:t>
            </a:r>
            <a:r>
              <a:rPr lang="en-IN" dirty="0" err="1"/>
              <a:t>RegistrationRequest</a:t>
            </a:r>
            <a:r>
              <a:rPr lang="en-IN" dirty="0"/>
              <a:t> request) </a:t>
            </a:r>
            <a:r>
              <a:rPr lang="en-IN" b="1" dirty="0"/>
              <a:t>throws</a:t>
            </a:r>
            <a:r>
              <a:rPr lang="en-IN" dirty="0"/>
              <a:t> </a:t>
            </a:r>
            <a:r>
              <a:rPr lang="en-IN" dirty="0" err="1"/>
              <a:t>UserAlreadyExistsException</a:t>
            </a:r>
            <a:r>
              <a:rPr lang="en-IN" dirty="0"/>
              <a:t> {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b="1" dirty="0"/>
              <a:t>if</a:t>
            </a:r>
            <a:r>
              <a:rPr lang="en-IN" dirty="0"/>
              <a:t> (</a:t>
            </a:r>
            <a:r>
              <a:rPr lang="en-IN" dirty="0" err="1"/>
              <a:t>userRepository.existsByUsername</a:t>
            </a:r>
            <a:r>
              <a:rPr lang="en-IN" dirty="0"/>
              <a:t>(</a:t>
            </a:r>
            <a:r>
              <a:rPr lang="en-IN" dirty="0" err="1"/>
              <a:t>request.username</a:t>
            </a:r>
            <a:r>
              <a:rPr lang="en-IN" dirty="0"/>
              <a:t>())) {</a:t>
            </a:r>
          </a:p>
          <a:p>
            <a:pPr marL="457200" lvl="1" indent="0">
              <a:buNone/>
            </a:pPr>
            <a:r>
              <a:rPr lang="en-IN" b="1" dirty="0"/>
              <a:t>   throw</a:t>
            </a:r>
            <a:r>
              <a:rPr lang="en-IN" dirty="0"/>
              <a:t> </a:t>
            </a:r>
            <a:r>
              <a:rPr lang="en-IN" b="1" dirty="0"/>
              <a:t>new</a:t>
            </a:r>
            <a:r>
              <a:rPr lang="en-IN" dirty="0"/>
              <a:t> </a:t>
            </a:r>
            <a:r>
              <a:rPr lang="en-IN" dirty="0" err="1"/>
              <a:t>UserAlreadyExistsException</a:t>
            </a:r>
            <a:r>
              <a:rPr lang="en-IN" dirty="0"/>
              <a:t>("Username is already taken!");</a:t>
            </a:r>
          </a:p>
          <a:p>
            <a:pPr marL="457200" lvl="1" indent="0">
              <a:buNone/>
            </a:pPr>
            <a:r>
              <a:rPr lang="en-IN" dirty="0"/>
              <a:t>}</a:t>
            </a:r>
          </a:p>
          <a:p>
            <a:pPr marL="457200" lvl="1" indent="0">
              <a:buNone/>
            </a:pPr>
            <a:r>
              <a:rPr lang="en-IN" b="1" dirty="0"/>
              <a:t>if</a:t>
            </a:r>
            <a:r>
              <a:rPr lang="en-IN" dirty="0"/>
              <a:t> (</a:t>
            </a:r>
            <a:r>
              <a:rPr lang="en-IN" dirty="0" err="1"/>
              <a:t>userRepository.existsByEmail</a:t>
            </a:r>
            <a:r>
              <a:rPr lang="en-IN" dirty="0"/>
              <a:t>(</a:t>
            </a:r>
            <a:r>
              <a:rPr lang="en-IN" dirty="0" err="1"/>
              <a:t>request.email</a:t>
            </a:r>
            <a:r>
              <a:rPr lang="en-IN" dirty="0"/>
              <a:t>())) {</a:t>
            </a:r>
          </a:p>
          <a:p>
            <a:pPr marL="457200" lvl="1" indent="0">
              <a:buNone/>
            </a:pPr>
            <a:r>
              <a:rPr lang="en-IN" b="1" dirty="0"/>
              <a:t>  throw</a:t>
            </a:r>
            <a:r>
              <a:rPr lang="en-IN" dirty="0"/>
              <a:t> </a:t>
            </a:r>
            <a:r>
              <a:rPr lang="en-IN" b="1" dirty="0"/>
              <a:t>new</a:t>
            </a:r>
            <a:r>
              <a:rPr lang="en-IN" dirty="0"/>
              <a:t> </a:t>
            </a:r>
            <a:r>
              <a:rPr lang="en-IN" dirty="0" err="1"/>
              <a:t>UserAlreadyExistsException</a:t>
            </a:r>
            <a:r>
              <a:rPr lang="en-IN" dirty="0"/>
              <a:t>("Email is already in use!");</a:t>
            </a:r>
          </a:p>
          <a:p>
            <a:pPr marL="457200" lvl="1" indent="0">
              <a:buNone/>
            </a:pPr>
            <a:r>
              <a:rPr lang="en-IN" dirty="0"/>
              <a:t>}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dirty="0" err="1"/>
              <a:t>WebUser</a:t>
            </a:r>
            <a:r>
              <a:rPr lang="en-IN" dirty="0"/>
              <a:t> user = </a:t>
            </a:r>
            <a:r>
              <a:rPr lang="en-IN" b="1" dirty="0"/>
              <a:t>new</a:t>
            </a:r>
            <a:r>
              <a:rPr lang="en-IN" dirty="0"/>
              <a:t> </a:t>
            </a:r>
            <a:r>
              <a:rPr lang="en-IN" dirty="0" err="1"/>
              <a:t>WebUser</a:t>
            </a:r>
            <a:r>
              <a:rPr lang="en-IN" dirty="0"/>
              <a:t>();</a:t>
            </a:r>
          </a:p>
          <a:p>
            <a:pPr marL="857250" lvl="2" indent="0">
              <a:buNone/>
            </a:pPr>
            <a:r>
              <a:rPr lang="en-IN" dirty="0" err="1"/>
              <a:t>user.setUsername</a:t>
            </a:r>
            <a:r>
              <a:rPr lang="en-IN" dirty="0"/>
              <a:t>(</a:t>
            </a:r>
            <a:r>
              <a:rPr lang="en-IN" dirty="0" err="1"/>
              <a:t>request.username</a:t>
            </a:r>
            <a:r>
              <a:rPr lang="en-IN" dirty="0"/>
              <a:t>());</a:t>
            </a:r>
          </a:p>
          <a:p>
            <a:pPr marL="857250" lvl="2" indent="0">
              <a:buNone/>
            </a:pPr>
            <a:r>
              <a:rPr lang="en-IN" dirty="0" err="1"/>
              <a:t>user.setEmail</a:t>
            </a:r>
            <a:r>
              <a:rPr lang="en-IN" dirty="0"/>
              <a:t>(</a:t>
            </a:r>
            <a:r>
              <a:rPr lang="en-IN" dirty="0" err="1"/>
              <a:t>request.email</a:t>
            </a:r>
            <a:r>
              <a:rPr lang="en-IN" dirty="0"/>
              <a:t>());</a:t>
            </a:r>
          </a:p>
          <a:p>
            <a:pPr marL="857250" lvl="2" indent="0">
              <a:buNone/>
            </a:pPr>
            <a:r>
              <a:rPr lang="en-IN" dirty="0" err="1"/>
              <a:t>user.setPassword</a:t>
            </a:r>
            <a:r>
              <a:rPr lang="en-IN" dirty="0"/>
              <a:t>(</a:t>
            </a:r>
            <a:r>
              <a:rPr lang="en-IN" dirty="0" err="1"/>
              <a:t>passwordEncoder.encode</a:t>
            </a:r>
            <a:r>
              <a:rPr lang="en-IN" dirty="0"/>
              <a:t>(</a:t>
            </a:r>
            <a:r>
              <a:rPr lang="en-IN" dirty="0" err="1"/>
              <a:t>request.password</a:t>
            </a:r>
            <a:r>
              <a:rPr lang="en-IN" dirty="0"/>
              <a:t>())); </a:t>
            </a:r>
          </a:p>
          <a:p>
            <a:pPr marL="857250" lvl="2" indent="0">
              <a:buNone/>
            </a:pPr>
            <a:r>
              <a:rPr lang="en-IN" dirty="0" err="1"/>
              <a:t>user.setRole</a:t>
            </a:r>
            <a:r>
              <a:rPr lang="en-IN" dirty="0"/>
              <a:t>(</a:t>
            </a:r>
            <a:r>
              <a:rPr lang="en-IN" dirty="0" err="1"/>
              <a:t>request.role</a:t>
            </a:r>
            <a:r>
              <a:rPr lang="en-IN" dirty="0"/>
              <a:t>());</a:t>
            </a:r>
          </a:p>
          <a:p>
            <a:pPr marL="457200" lvl="1" indent="0">
              <a:buNone/>
            </a:pPr>
            <a:r>
              <a:rPr lang="en-IN" dirty="0" err="1"/>
              <a:t>userRepository.save</a:t>
            </a:r>
            <a:r>
              <a:rPr lang="en-IN" dirty="0"/>
              <a:t>(user);</a:t>
            </a:r>
          </a:p>
          <a:p>
            <a:pPr marL="457200" lvl="1" indent="0">
              <a:buNone/>
            </a:pPr>
            <a:r>
              <a:rPr lang="en-IN" dirty="0"/>
              <a:t>}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5076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73E81-0A4F-D180-CEDD-14912183E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Details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5218D-C888-8D9D-790C-8C6BD6433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IN" dirty="0"/>
              <a:t>@Override</a:t>
            </a:r>
          </a:p>
          <a:p>
            <a:pPr marL="457200" lvl="1" indent="0">
              <a:buNone/>
            </a:pPr>
            <a:r>
              <a:rPr lang="en-IN" dirty="0"/>
              <a:t>@Transactional(</a:t>
            </a:r>
            <a:r>
              <a:rPr lang="en-IN" dirty="0" err="1"/>
              <a:t>readOnly</a:t>
            </a:r>
            <a:r>
              <a:rPr lang="en-IN" dirty="0"/>
              <a:t> = </a:t>
            </a:r>
            <a:r>
              <a:rPr lang="en-IN" b="1" dirty="0"/>
              <a:t>true</a:t>
            </a:r>
            <a:r>
              <a:rPr lang="en-IN" dirty="0"/>
              <a:t>)</a:t>
            </a:r>
          </a:p>
          <a:p>
            <a:pPr marL="457200" lvl="1" indent="0">
              <a:buNone/>
            </a:pPr>
            <a:r>
              <a:rPr lang="en-IN" b="1" dirty="0"/>
              <a:t>public</a:t>
            </a:r>
            <a:r>
              <a:rPr lang="en-IN" dirty="0"/>
              <a:t> </a:t>
            </a:r>
            <a:r>
              <a:rPr lang="en-IN" dirty="0" err="1"/>
              <a:t>UserDetails</a:t>
            </a:r>
            <a:r>
              <a:rPr lang="en-IN" dirty="0"/>
              <a:t> </a:t>
            </a:r>
            <a:r>
              <a:rPr lang="en-IN" dirty="0" err="1"/>
              <a:t>loadUserByUsername</a:t>
            </a:r>
            <a:r>
              <a:rPr lang="en-IN" dirty="0"/>
              <a:t>(String username) </a:t>
            </a:r>
            <a:r>
              <a:rPr lang="en-IN" b="1" dirty="0"/>
              <a:t>throws</a:t>
            </a:r>
            <a:r>
              <a:rPr lang="en-IN" dirty="0"/>
              <a:t> </a:t>
            </a:r>
            <a:r>
              <a:rPr lang="en-IN" dirty="0" err="1"/>
              <a:t>UsernameNotFoundException</a:t>
            </a:r>
            <a:r>
              <a:rPr lang="en-IN" dirty="0"/>
              <a:t> {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dirty="0" err="1"/>
              <a:t>WebUser</a:t>
            </a:r>
            <a:r>
              <a:rPr lang="en-IN" dirty="0"/>
              <a:t> </a:t>
            </a:r>
            <a:r>
              <a:rPr lang="en-IN" dirty="0" err="1"/>
              <a:t>portalUser</a:t>
            </a:r>
            <a:r>
              <a:rPr lang="en-IN" dirty="0"/>
              <a:t> = </a:t>
            </a:r>
            <a:r>
              <a:rPr lang="en-IN" dirty="0" err="1"/>
              <a:t>userRepository.findByUsername</a:t>
            </a:r>
            <a:r>
              <a:rPr lang="en-IN" dirty="0"/>
              <a:t>(username)</a:t>
            </a:r>
          </a:p>
          <a:p>
            <a:pPr marL="457200" lvl="1" indent="0">
              <a:buNone/>
            </a:pPr>
            <a:r>
              <a:rPr lang="en-IN" dirty="0"/>
              <a:t>.</a:t>
            </a:r>
            <a:r>
              <a:rPr lang="en-IN" dirty="0" err="1"/>
              <a:t>orElseThrow</a:t>
            </a:r>
            <a:r>
              <a:rPr lang="en-IN" dirty="0"/>
              <a:t>(() -&gt; </a:t>
            </a:r>
            <a:r>
              <a:rPr lang="en-IN" b="1" dirty="0"/>
              <a:t>new</a:t>
            </a:r>
            <a:r>
              <a:rPr lang="en-IN" dirty="0"/>
              <a:t> </a:t>
            </a:r>
            <a:r>
              <a:rPr lang="en-IN" dirty="0" err="1"/>
              <a:t>UsernameNotFoundException</a:t>
            </a:r>
            <a:r>
              <a:rPr lang="en-IN" dirty="0"/>
              <a:t>("User Not Found: " + username));</a:t>
            </a:r>
          </a:p>
          <a:p>
            <a:pPr marL="457200" lvl="1" indent="0">
              <a:buNone/>
            </a:pPr>
            <a:br>
              <a:rPr lang="en-IN" dirty="0"/>
            </a:br>
            <a:endParaRPr lang="en-IN" dirty="0"/>
          </a:p>
          <a:p>
            <a:pPr marL="457200" lvl="1" indent="0">
              <a:buNone/>
            </a:pPr>
            <a:r>
              <a:rPr lang="en-IN" b="1" dirty="0"/>
              <a:t>return</a:t>
            </a:r>
            <a:r>
              <a:rPr lang="en-IN" dirty="0"/>
              <a:t> </a:t>
            </a:r>
            <a:r>
              <a:rPr lang="en-IN" dirty="0" err="1"/>
              <a:t>User.</a:t>
            </a:r>
            <a:r>
              <a:rPr lang="en-IN" i="1" dirty="0" err="1"/>
              <a:t>builder</a:t>
            </a:r>
            <a:r>
              <a:rPr lang="en-IN" dirty="0"/>
              <a:t>()</a:t>
            </a:r>
          </a:p>
          <a:p>
            <a:pPr marL="457200" lvl="1" indent="0">
              <a:buNone/>
            </a:pPr>
            <a:r>
              <a:rPr lang="en-IN" dirty="0"/>
              <a:t>.username(</a:t>
            </a:r>
            <a:r>
              <a:rPr lang="en-IN" dirty="0" err="1"/>
              <a:t>portalUser.getUsername</a:t>
            </a:r>
            <a:r>
              <a:rPr lang="en-IN" dirty="0"/>
              <a:t>())</a:t>
            </a:r>
          </a:p>
          <a:p>
            <a:pPr marL="457200" lvl="1" indent="0">
              <a:buNone/>
            </a:pPr>
            <a:r>
              <a:rPr lang="en-IN" dirty="0"/>
              <a:t>.password(</a:t>
            </a:r>
            <a:r>
              <a:rPr lang="en-IN" dirty="0" err="1"/>
              <a:t>portalUser.getPassword</a:t>
            </a:r>
            <a:r>
              <a:rPr lang="en-IN" dirty="0"/>
              <a:t>())</a:t>
            </a:r>
          </a:p>
          <a:p>
            <a:pPr marL="457200" lvl="1" indent="0">
              <a:buNone/>
            </a:pPr>
            <a:r>
              <a:rPr lang="en-IN" dirty="0"/>
              <a:t>.roles(</a:t>
            </a:r>
            <a:r>
              <a:rPr lang="en-IN" dirty="0" err="1"/>
              <a:t>portalUser.getRole</a:t>
            </a:r>
            <a:r>
              <a:rPr lang="en-IN" dirty="0"/>
              <a:t>()) </a:t>
            </a:r>
          </a:p>
          <a:p>
            <a:pPr marL="457200" lvl="1" indent="0">
              <a:buNone/>
            </a:pPr>
            <a:r>
              <a:rPr lang="en-IN" dirty="0"/>
              <a:t>.build();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dirty="0"/>
              <a:t>}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410115"/>
      </p:ext>
    </p:extLst>
  </p:cSld>
  <p:clrMapOvr>
    <a:masterClrMapping/>
  </p:clrMapOvr>
</p:sld>
</file>

<file path=ppt/theme/theme1.xml><?xml version="1.0" encoding="utf-8"?>
<a:theme xmlns:a="http://schemas.openxmlformats.org/drawingml/2006/main" name="vees">
  <a:themeElements>
    <a:clrScheme name="vees 14">
      <a:dk1>
        <a:srgbClr val="000000"/>
      </a:dk1>
      <a:lt1>
        <a:srgbClr val="FF99CC"/>
      </a:lt1>
      <a:dk2>
        <a:srgbClr val="1C1C1C"/>
      </a:dk2>
      <a:lt2>
        <a:srgbClr val="4D4D4D"/>
      </a:lt2>
      <a:accent1>
        <a:srgbClr val="FF0000"/>
      </a:accent1>
      <a:accent2>
        <a:srgbClr val="FF99CC"/>
      </a:accent2>
      <a:accent3>
        <a:srgbClr val="FFCAE2"/>
      </a:accent3>
      <a:accent4>
        <a:srgbClr val="000000"/>
      </a:accent4>
      <a:accent5>
        <a:srgbClr val="FFAAAA"/>
      </a:accent5>
      <a:accent6>
        <a:srgbClr val="E78AB9"/>
      </a:accent6>
      <a:hlink>
        <a:srgbClr val="9933FF"/>
      </a:hlink>
      <a:folHlink>
        <a:srgbClr val="44C63A"/>
      </a:folHlink>
    </a:clrScheme>
    <a:fontScheme name="ve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vees 1">
        <a:dk1>
          <a:srgbClr val="C0C0C0"/>
        </a:dk1>
        <a:lt1>
          <a:srgbClr val="FFFFFF"/>
        </a:lt1>
        <a:dk2>
          <a:srgbClr val="000099"/>
        </a:dk2>
        <a:lt2>
          <a:srgbClr val="CCECFF"/>
        </a:lt2>
        <a:accent1>
          <a:srgbClr val="FF3399"/>
        </a:accent1>
        <a:accent2>
          <a:srgbClr val="99CCFF"/>
        </a:accent2>
        <a:accent3>
          <a:srgbClr val="AAAACA"/>
        </a:accent3>
        <a:accent4>
          <a:srgbClr val="DADADA"/>
        </a:accent4>
        <a:accent5>
          <a:srgbClr val="FFADCA"/>
        </a:accent5>
        <a:accent6>
          <a:srgbClr val="8AB9E7"/>
        </a:accent6>
        <a:hlink>
          <a:srgbClr val="FF505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2">
        <a:dk1>
          <a:srgbClr val="000000"/>
        </a:dk1>
        <a:lt1>
          <a:srgbClr val="99CCFF"/>
        </a:lt1>
        <a:dk2>
          <a:srgbClr val="1C1C1C"/>
        </a:dk2>
        <a:lt2>
          <a:srgbClr val="4D4D4D"/>
        </a:lt2>
        <a:accent1>
          <a:srgbClr val="CC0066"/>
        </a:accent1>
        <a:accent2>
          <a:srgbClr val="3366FF"/>
        </a:accent2>
        <a:accent3>
          <a:srgbClr val="CAE2FF"/>
        </a:accent3>
        <a:accent4>
          <a:srgbClr val="000000"/>
        </a:accent4>
        <a:accent5>
          <a:srgbClr val="E2AAB8"/>
        </a:accent5>
        <a:accent6>
          <a:srgbClr val="2D5CE7"/>
        </a:accent6>
        <a:hlink>
          <a:srgbClr val="FF00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3">
        <a:dk1>
          <a:srgbClr val="C0C0C0"/>
        </a:dk1>
        <a:lt1>
          <a:srgbClr val="FFFFFF"/>
        </a:lt1>
        <a:dk2>
          <a:srgbClr val="800000"/>
        </a:dk2>
        <a:lt2>
          <a:srgbClr val="FFCC99"/>
        </a:lt2>
        <a:accent1>
          <a:srgbClr val="FF9900"/>
        </a:accent1>
        <a:accent2>
          <a:srgbClr val="CC00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B90000"/>
        </a:accent6>
        <a:hlink>
          <a:srgbClr val="FF33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4">
        <a:dk1>
          <a:srgbClr val="000000"/>
        </a:dk1>
        <a:lt1>
          <a:srgbClr val="FF9966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6699"/>
        </a:accent2>
        <a:accent3>
          <a:srgbClr val="FFCAB8"/>
        </a:accent3>
        <a:accent4>
          <a:srgbClr val="000000"/>
        </a:accent4>
        <a:accent5>
          <a:srgbClr val="FFAAAA"/>
        </a:accent5>
        <a:accent6>
          <a:srgbClr val="E75C8A"/>
        </a:accent6>
        <a:hlink>
          <a:srgbClr val="CC00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5">
        <a:dk1>
          <a:srgbClr val="C0C0C0"/>
        </a:dk1>
        <a:lt1>
          <a:srgbClr val="FFFFFF"/>
        </a:lt1>
        <a:dk2>
          <a:srgbClr val="008000"/>
        </a:dk2>
        <a:lt2>
          <a:srgbClr val="CCECFF"/>
        </a:lt2>
        <a:accent1>
          <a:srgbClr val="0066FF"/>
        </a:accent1>
        <a:accent2>
          <a:srgbClr val="00FF00"/>
        </a:accent2>
        <a:accent3>
          <a:srgbClr val="AAC0AA"/>
        </a:accent3>
        <a:accent4>
          <a:srgbClr val="DADADA"/>
        </a:accent4>
        <a:accent5>
          <a:srgbClr val="AAB8FF"/>
        </a:accent5>
        <a:accent6>
          <a:srgbClr val="00E700"/>
        </a:accent6>
        <a:hlink>
          <a:srgbClr val="A29E00"/>
        </a:hlink>
        <a:folHlink>
          <a:srgbClr val="EA8B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6">
        <a:dk1>
          <a:srgbClr val="000000"/>
        </a:dk1>
        <a:lt1>
          <a:srgbClr val="97E183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99FF99"/>
        </a:accent2>
        <a:accent3>
          <a:srgbClr val="C9EEC1"/>
        </a:accent3>
        <a:accent4>
          <a:srgbClr val="000000"/>
        </a:accent4>
        <a:accent5>
          <a:srgbClr val="AAB8FF"/>
        </a:accent5>
        <a:accent6>
          <a:srgbClr val="8AE78A"/>
        </a:accent6>
        <a:hlink>
          <a:srgbClr val="CC99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7">
        <a:dk1>
          <a:srgbClr val="C0C0C0"/>
        </a:dk1>
        <a:lt1>
          <a:srgbClr val="FFFFFF"/>
        </a:lt1>
        <a:dk2>
          <a:srgbClr val="008080"/>
        </a:dk2>
        <a:lt2>
          <a:srgbClr val="CCECFF"/>
        </a:lt2>
        <a:accent1>
          <a:srgbClr val="29A329"/>
        </a:accent1>
        <a:accent2>
          <a:srgbClr val="00FFFF"/>
        </a:accent2>
        <a:accent3>
          <a:srgbClr val="AAC0C0"/>
        </a:accent3>
        <a:accent4>
          <a:srgbClr val="DADADA"/>
        </a:accent4>
        <a:accent5>
          <a:srgbClr val="ACCEAC"/>
        </a:accent5>
        <a:accent6>
          <a:srgbClr val="00E7E7"/>
        </a:accent6>
        <a:hlink>
          <a:srgbClr val="3B6AFF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8">
        <a:dk1>
          <a:srgbClr val="000000"/>
        </a:dk1>
        <a:lt1>
          <a:srgbClr val="64F0BE"/>
        </a:lt1>
        <a:dk2>
          <a:srgbClr val="1C1C1C"/>
        </a:dk2>
        <a:lt2>
          <a:srgbClr val="4D4D4D"/>
        </a:lt2>
        <a:accent1>
          <a:srgbClr val="008000"/>
        </a:accent1>
        <a:accent2>
          <a:srgbClr val="00FFFF"/>
        </a:accent2>
        <a:accent3>
          <a:srgbClr val="B8F6DB"/>
        </a:accent3>
        <a:accent4>
          <a:srgbClr val="000000"/>
        </a:accent4>
        <a:accent5>
          <a:srgbClr val="AAC0AA"/>
        </a:accent5>
        <a:accent6>
          <a:srgbClr val="00E7E7"/>
        </a:accent6>
        <a:hlink>
          <a:srgbClr val="3366FF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9">
        <a:dk1>
          <a:srgbClr val="C0C0C0"/>
        </a:dk1>
        <a:lt1>
          <a:srgbClr val="FFFFFF"/>
        </a:lt1>
        <a:dk2>
          <a:srgbClr val="CC9900"/>
        </a:dk2>
        <a:lt2>
          <a:srgbClr val="FFFFCC"/>
        </a:lt2>
        <a:accent1>
          <a:srgbClr val="FF3300"/>
        </a:accent1>
        <a:accent2>
          <a:srgbClr val="FFCC66"/>
        </a:accent2>
        <a:accent3>
          <a:srgbClr val="E2CAAA"/>
        </a:accent3>
        <a:accent4>
          <a:srgbClr val="DADADA"/>
        </a:accent4>
        <a:accent5>
          <a:srgbClr val="FFADAA"/>
        </a:accent5>
        <a:accent6>
          <a:srgbClr val="E7B95C"/>
        </a:accent6>
        <a:hlink>
          <a:srgbClr val="008080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0">
        <a:dk1>
          <a:srgbClr val="000000"/>
        </a:dk1>
        <a:lt1>
          <a:srgbClr val="EFF274"/>
        </a:lt1>
        <a:dk2>
          <a:srgbClr val="1C1C1C"/>
        </a:dk2>
        <a:lt2>
          <a:srgbClr val="4D4D4D"/>
        </a:lt2>
        <a:accent1>
          <a:srgbClr val="9966FF"/>
        </a:accent1>
        <a:accent2>
          <a:srgbClr val="FFFFCC"/>
        </a:accent2>
        <a:accent3>
          <a:srgbClr val="F6F7BC"/>
        </a:accent3>
        <a:accent4>
          <a:srgbClr val="000000"/>
        </a:accent4>
        <a:accent5>
          <a:srgbClr val="CAB8FF"/>
        </a:accent5>
        <a:accent6>
          <a:srgbClr val="E7E7B9"/>
        </a:accent6>
        <a:hlink>
          <a:srgbClr val="6666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1">
        <a:dk1>
          <a:srgbClr val="C0C0C0"/>
        </a:dk1>
        <a:lt1>
          <a:srgbClr val="FFFFFF"/>
        </a:lt1>
        <a:dk2>
          <a:srgbClr val="6600CC"/>
        </a:dk2>
        <a:lt2>
          <a:srgbClr val="CCCCFF"/>
        </a:lt2>
        <a:accent1>
          <a:srgbClr val="D60093"/>
        </a:accent1>
        <a:accent2>
          <a:srgbClr val="9999FF"/>
        </a:accent2>
        <a:accent3>
          <a:srgbClr val="B8AAE2"/>
        </a:accent3>
        <a:accent4>
          <a:srgbClr val="DADADA"/>
        </a:accent4>
        <a:accent5>
          <a:srgbClr val="E8AAC8"/>
        </a:accent5>
        <a:accent6>
          <a:srgbClr val="8A8AE7"/>
        </a:accent6>
        <a:hlink>
          <a:srgbClr val="008000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2">
        <a:dk1>
          <a:srgbClr val="000000"/>
        </a:dk1>
        <a:lt1>
          <a:srgbClr val="CC99FF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CCCCFF"/>
        </a:accent2>
        <a:accent3>
          <a:srgbClr val="E2CAFF"/>
        </a:accent3>
        <a:accent4>
          <a:srgbClr val="000000"/>
        </a:accent4>
        <a:accent5>
          <a:srgbClr val="AAB8FF"/>
        </a:accent5>
        <a:accent6>
          <a:srgbClr val="B9B9E7"/>
        </a:accent6>
        <a:hlink>
          <a:srgbClr val="FF0066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3">
        <a:dk1>
          <a:srgbClr val="C0C0C0"/>
        </a:dk1>
        <a:lt1>
          <a:srgbClr val="FFFFFF"/>
        </a:lt1>
        <a:dk2>
          <a:srgbClr val="CC0066"/>
        </a:dk2>
        <a:lt2>
          <a:srgbClr val="FFCCCC"/>
        </a:lt2>
        <a:accent1>
          <a:srgbClr val="993366"/>
        </a:accent1>
        <a:accent2>
          <a:srgbClr val="FF9999"/>
        </a:accent2>
        <a:accent3>
          <a:srgbClr val="E2AAB8"/>
        </a:accent3>
        <a:accent4>
          <a:srgbClr val="DADADA"/>
        </a:accent4>
        <a:accent5>
          <a:srgbClr val="CAADB8"/>
        </a:accent5>
        <a:accent6>
          <a:srgbClr val="E78A8A"/>
        </a:accent6>
        <a:hlink>
          <a:srgbClr val="009999"/>
        </a:hlink>
        <a:folHlink>
          <a:srgbClr val="FF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4">
        <a:dk1>
          <a:srgbClr val="000000"/>
        </a:dk1>
        <a:lt1>
          <a:srgbClr val="FF99CC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99CC"/>
        </a:accent2>
        <a:accent3>
          <a:srgbClr val="FFCAE2"/>
        </a:accent3>
        <a:accent4>
          <a:srgbClr val="000000"/>
        </a:accent4>
        <a:accent5>
          <a:srgbClr val="FFAAAA"/>
        </a:accent5>
        <a:accent6>
          <a:srgbClr val="E78AB9"/>
        </a:accent6>
        <a:hlink>
          <a:srgbClr val="9933FF"/>
        </a:hlink>
        <a:folHlink>
          <a:srgbClr val="44C63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ees 15">
        <a:dk1>
          <a:srgbClr val="C0C0C0"/>
        </a:dk1>
        <a:lt1>
          <a:srgbClr val="FFFFFF"/>
        </a:lt1>
        <a:dk2>
          <a:srgbClr val="000000"/>
        </a:dk2>
        <a:lt2>
          <a:srgbClr val="DDDDDD"/>
        </a:lt2>
        <a:accent1>
          <a:srgbClr val="4D4D4D"/>
        </a:accent1>
        <a:accent2>
          <a:srgbClr val="C0C0C0"/>
        </a:accent2>
        <a:accent3>
          <a:srgbClr val="AAAAAA"/>
        </a:accent3>
        <a:accent4>
          <a:srgbClr val="DADADA"/>
        </a:accent4>
        <a:accent5>
          <a:srgbClr val="B2B2B2"/>
        </a:accent5>
        <a:accent6>
          <a:srgbClr val="AEAEAE"/>
        </a:accent6>
        <a:hlink>
          <a:srgbClr val="77777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ees 16">
        <a:dk1>
          <a:srgbClr val="000000"/>
        </a:dk1>
        <a:lt1>
          <a:srgbClr val="FFFFFF"/>
        </a:lt1>
        <a:dk2>
          <a:srgbClr val="1C1C1C"/>
        </a:dk2>
        <a:lt2>
          <a:srgbClr val="4D4D4D"/>
        </a:lt2>
        <a:accent1>
          <a:srgbClr val="4D4D4D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B2B2B2"/>
        </a:accent5>
        <a:accent6>
          <a:srgbClr val="C8C8C8"/>
        </a:accent6>
        <a:hlink>
          <a:srgbClr val="80808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39027</TotalTime>
  <Words>1202</Words>
  <Application>Microsoft Macintosh PowerPoint</Application>
  <PresentationFormat>On-screen Show (4:3)</PresentationFormat>
  <Paragraphs>211</Paragraphs>
  <Slides>20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  <vt:variant>
        <vt:lpstr>Custom Shows</vt:lpstr>
      </vt:variant>
      <vt:variant>
        <vt:i4>1</vt:i4>
      </vt:variant>
    </vt:vector>
  </HeadingPairs>
  <TitlesOfParts>
    <vt:vector size="24" baseType="lpstr">
      <vt:lpstr>Arial</vt:lpstr>
      <vt:lpstr>Times New Roman</vt:lpstr>
      <vt:lpstr>vees</vt:lpstr>
      <vt:lpstr>Spring Security</vt:lpstr>
      <vt:lpstr>Spring Security</vt:lpstr>
      <vt:lpstr>Authentication &amp; Authorization</vt:lpstr>
      <vt:lpstr>Add Spring Security Module</vt:lpstr>
      <vt:lpstr>Spring Security Architecture</vt:lpstr>
      <vt:lpstr>Spring Security Architecture</vt:lpstr>
      <vt:lpstr>Authorizations</vt:lpstr>
      <vt:lpstr>BCryptPasswordEncoder</vt:lpstr>
      <vt:lpstr>HttpSecurity </vt:lpstr>
      <vt:lpstr>Security Filter chain</vt:lpstr>
      <vt:lpstr>Security Config</vt:lpstr>
      <vt:lpstr>Security Config</vt:lpstr>
      <vt:lpstr>Security Config-H2 Specific</vt:lpstr>
      <vt:lpstr>Method Level Annotation-SPEL </vt:lpstr>
      <vt:lpstr>CSRF</vt:lpstr>
      <vt:lpstr>Entity and Repository</vt:lpstr>
      <vt:lpstr>User Details Service</vt:lpstr>
      <vt:lpstr>User Details Service</vt:lpstr>
      <vt:lpstr>User Details Service</vt:lpstr>
      <vt:lpstr>User Details Service</vt:lpstr>
      <vt:lpstr>Sapient</vt:lpstr>
    </vt:vector>
  </TitlesOfParts>
  <Company>Meta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</dc:title>
  <dc:subject>Spring Core Package</dc:subject>
  <dc:creator>K.Srivatsan</dc:creator>
  <cp:lastModifiedBy>Srivatsan Krishnamachari</cp:lastModifiedBy>
  <cp:revision>1806</cp:revision>
  <dcterms:created xsi:type="dcterms:W3CDTF">1998-10-26T19:35:11Z</dcterms:created>
  <dcterms:modified xsi:type="dcterms:W3CDTF">2026-03-20T03:45:01Z</dcterms:modified>
</cp:coreProperties>
</file>